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10"/>
    <p:sldId id="258" r:id="rId11"/>
  </p:sldIdLst>
  <p:sldSz cx="18288000" cy="10287000"/>
  <p:notesSz cx="6858000" cy="9144000"/>
  <p:embeddedFontLst>
    <p:embeddedFont>
      <p:font typeface="Montserrat" charset="1" panose="00000500000000000000"/>
      <p:regular r:id="rId7"/>
    </p:embeddedFont>
    <p:embeddedFont>
      <p:font typeface="Exo 2" charset="1" panose="00000500000000000000"/>
      <p:regular r:id="rId8"/>
    </p:embeddedFont>
    <p:embeddedFont>
      <p:font typeface="PT Serif" charset="1" panose="020A0603040505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Relationship Id="rId9" Type="http://schemas.openxmlformats.org/officeDocument/2006/relationships/font" Target="fonts/font9.fntdata"/><Relationship Id="rId10" Type="http://schemas.openxmlformats.org/officeDocument/2006/relationships/slide" Target="slides/slide2.xml"/><Relationship Id="rId11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81500" y="190500"/>
            <a:ext cx="9525000" cy="471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9"/>
              </a:lnSpc>
              <a:spcBef>
                <a:spcPct val="0"/>
              </a:spcBef>
            </a:pPr>
            <a:r>
              <a:rPr lang="en-US" sz="27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Timeline Roadmap: July - December 2026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09750" y="676275"/>
            <a:ext cx="529590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F5ACD"/>
                </a:solidFill>
                <a:latin typeface="Exo 2"/>
                <a:ea typeface="Exo 2"/>
                <a:cs typeface="Exo 2"/>
                <a:sym typeface="Exo 2"/>
              </a:rPr>
              <a:t>Alpha (Foundation)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05650" y="676275"/>
            <a:ext cx="529590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6F5ACD"/>
                </a:solidFill>
                <a:latin typeface="Exo 2"/>
                <a:ea typeface="Exo 2"/>
                <a:cs typeface="Exo 2"/>
                <a:sym typeface="Exo 2"/>
              </a:rPr>
              <a:t>Beta (Growth)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01550" y="676275"/>
            <a:ext cx="264795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8C42"/>
                </a:solidFill>
                <a:latin typeface="Exo 2"/>
                <a:ea typeface="Exo 2"/>
                <a:cs typeface="Exo 2"/>
                <a:sym typeface="Exo 2"/>
              </a:rPr>
              <a:t>DaaS Build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49500" y="676275"/>
            <a:ext cx="2647950" cy="250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60"/>
              </a:lnSpc>
              <a:spcBef>
                <a:spcPct val="0"/>
              </a:spcBef>
            </a:pPr>
            <a:r>
              <a:rPr lang="en-US" sz="1400" strike="noStrike" u="none">
                <a:solidFill>
                  <a:srgbClr val="FF8C42"/>
                </a:solidFill>
                <a:latin typeface="Exo 2"/>
                <a:ea typeface="Exo 2"/>
                <a:cs typeface="Exo 2"/>
                <a:sym typeface="Exo 2"/>
              </a:rPr>
              <a:t>Exit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0975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M1: Jul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5770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M2: Aug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0565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M3: Sep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5360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M4: Oct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0155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M5: Nov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49500" y="933450"/>
            <a:ext cx="2647950" cy="181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9C88FF"/>
                </a:solidFill>
                <a:latin typeface="PT Serif"/>
                <a:ea typeface="PT Serif"/>
                <a:cs typeface="PT Serif"/>
                <a:sym typeface="PT Serif"/>
              </a:rPr>
              <a:t>M6: Dec</a:t>
            </a:r>
          </a:p>
        </p:txBody>
      </p:sp>
      <p:sp>
        <p:nvSpPr>
          <p:cNvPr name="AutoShape 13" id="13"/>
          <p:cNvSpPr/>
          <p:nvPr/>
        </p:nvSpPr>
        <p:spPr>
          <a:xfrm>
            <a:off x="1809750" y="1238250"/>
            <a:ext cx="15906750" cy="0"/>
          </a:xfrm>
          <a:prstGeom prst="line">
            <a:avLst/>
          </a:prstGeom>
          <a:ln cap="flat" w="19050">
            <a:solidFill>
              <a:srgbClr val="BAB4F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3086100" y="1190625"/>
            <a:ext cx="95250" cy="95250"/>
            <a:chOff x="0" y="0"/>
            <a:chExt cx="127000" cy="12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734050" y="1190625"/>
            <a:ext cx="95250" cy="95250"/>
            <a:chOff x="0" y="0"/>
            <a:chExt cx="127000" cy="12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382000" y="1190625"/>
            <a:ext cx="95250" cy="95250"/>
            <a:chOff x="0" y="0"/>
            <a:chExt cx="127000" cy="127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29950" y="1190625"/>
            <a:ext cx="95250" cy="95250"/>
            <a:chOff x="0" y="0"/>
            <a:chExt cx="127000" cy="12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6F5AC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77900" y="1190625"/>
            <a:ext cx="95250" cy="95250"/>
            <a:chOff x="0" y="0"/>
            <a:chExt cx="127000" cy="127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FF8C42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325850" y="1190625"/>
            <a:ext cx="95250" cy="95250"/>
            <a:chOff x="0" y="0"/>
            <a:chExt cx="127000" cy="127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7000" cy="127000"/>
            </a:xfrm>
            <a:custGeom>
              <a:avLst/>
              <a:gdLst/>
              <a:ahLst/>
              <a:cxnLst/>
              <a:rect r="r" b="b" t="t" l="l"/>
              <a:pathLst>
                <a:path h="127000" w="127000">
                  <a:moveTo>
                    <a:pt x="63500" y="0"/>
                  </a:moveTo>
                  <a:cubicBezTo>
                    <a:pt x="28430" y="0"/>
                    <a:pt x="0" y="28430"/>
                    <a:pt x="0" y="63500"/>
                  </a:cubicBezTo>
                  <a:cubicBezTo>
                    <a:pt x="0" y="98570"/>
                    <a:pt x="28430" y="127000"/>
                    <a:pt x="63500" y="127000"/>
                  </a:cubicBezTo>
                  <a:cubicBezTo>
                    <a:pt x="98570" y="127000"/>
                    <a:pt x="127000" y="98570"/>
                    <a:pt x="127000" y="63500"/>
                  </a:cubicBezTo>
                  <a:cubicBezTo>
                    <a:pt x="127000" y="28430"/>
                    <a:pt x="98570" y="0"/>
                    <a:pt x="63500" y="0"/>
                  </a:cubicBezTo>
                  <a:close/>
                </a:path>
              </a:pathLst>
            </a:custGeom>
            <a:solidFill>
              <a:srgbClr val="FF8C42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27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571500" y="1352550"/>
            <a:ext cx="123825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Exo 2"/>
                <a:ea typeface="Exo 2"/>
                <a:cs typeface="Exo 2"/>
                <a:sym typeface="Exo 2"/>
              </a:rPr>
              <a:t>GOAL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885950" y="1343025"/>
            <a:ext cx="2495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All brands product uploaded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Signed agreements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Internal testing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181850" y="1343025"/>
            <a:ext cx="24955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SOFT LAUNCH BASIC FUNCTION AI TRY 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29800" y="1343025"/>
            <a:ext cx="249555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MINI SHOP LAUNCH INCLUDING LIVE WITH TRY ON WITH ME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77750" y="1343025"/>
            <a:ext cx="2495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ROI Dashboard build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DaaS pre-sales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Data Analyst hired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5125700" y="1343025"/>
            <a:ext cx="2495550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Trial results compiled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Series A pitch NEST VC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Full team 5 FTE</a:t>
            </a:r>
          </a:p>
        </p:txBody>
      </p:sp>
      <p:sp>
        <p:nvSpPr>
          <p:cNvPr name="AutoShape 38" id="38"/>
          <p:cNvSpPr/>
          <p:nvPr/>
        </p:nvSpPr>
        <p:spPr>
          <a:xfrm>
            <a:off x="1495425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230630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965835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>
            <a:off x="701040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4362450" y="1790700"/>
            <a:ext cx="0" cy="5476875"/>
          </a:xfrm>
          <a:prstGeom prst="line">
            <a:avLst/>
          </a:prstGeom>
          <a:ln cap="flat" w="9525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76250" y="5648325"/>
            <a:ext cx="17145000" cy="1428750"/>
            <a:chOff x="0" y="0"/>
            <a:chExt cx="22860000" cy="1905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6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53" y="0"/>
                    <a:pt x="22860000" y="85290"/>
                    <a:pt x="22860000" y="190500"/>
                  </a:cubicBezTo>
                  <a:lnTo>
                    <a:pt x="22860000" y="1714500"/>
                  </a:lnTo>
                  <a:cubicBezTo>
                    <a:pt x="22860000" y="1819710"/>
                    <a:pt x="22757653" y="1905000"/>
                    <a:pt x="22631400" y="1905000"/>
                  </a:cubicBezTo>
                  <a:lnTo>
                    <a:pt x="228600" y="1905000"/>
                  </a:lnTo>
                  <a:cubicBezTo>
                    <a:pt x="10234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0FDF7">
                <a:alpha val="60000"/>
              </a:srgbClr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286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76250" y="4124325"/>
            <a:ext cx="17145000" cy="1428750"/>
            <a:chOff x="0" y="0"/>
            <a:chExt cx="22860000" cy="19050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286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53" y="0"/>
                    <a:pt x="22860000" y="85290"/>
                    <a:pt x="22860000" y="190500"/>
                  </a:cubicBezTo>
                  <a:lnTo>
                    <a:pt x="22860000" y="1714500"/>
                  </a:lnTo>
                  <a:cubicBezTo>
                    <a:pt x="22860000" y="1819710"/>
                    <a:pt x="22757653" y="1905000"/>
                    <a:pt x="22631400" y="1905000"/>
                  </a:cubicBezTo>
                  <a:lnTo>
                    <a:pt x="228600" y="1905000"/>
                  </a:lnTo>
                  <a:cubicBezTo>
                    <a:pt x="10234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5F2FF">
                <a:alpha val="6000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2286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76250" y="2600325"/>
            <a:ext cx="17145000" cy="1428750"/>
            <a:chOff x="0" y="0"/>
            <a:chExt cx="22860000" cy="19050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6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22860000">
                  <a:moveTo>
                    <a:pt x="228600" y="0"/>
                  </a:moveTo>
                  <a:lnTo>
                    <a:pt x="22631400" y="0"/>
                  </a:lnTo>
                  <a:cubicBezTo>
                    <a:pt x="22757653" y="0"/>
                    <a:pt x="22860000" y="85290"/>
                    <a:pt x="22860000" y="190500"/>
                  </a:cubicBezTo>
                  <a:lnTo>
                    <a:pt x="22860000" y="1714500"/>
                  </a:lnTo>
                  <a:cubicBezTo>
                    <a:pt x="22860000" y="1819710"/>
                    <a:pt x="22757653" y="1905000"/>
                    <a:pt x="22631400" y="1905000"/>
                  </a:cubicBezTo>
                  <a:lnTo>
                    <a:pt x="228600" y="1905000"/>
                  </a:lnTo>
                  <a:cubicBezTo>
                    <a:pt x="102348" y="1905000"/>
                    <a:pt x="0" y="1819710"/>
                    <a:pt x="0" y="1714500"/>
                  </a:cubicBezTo>
                  <a:lnTo>
                    <a:pt x="0" y="190500"/>
                  </a:lnTo>
                  <a:cubicBezTo>
                    <a:pt x="0" y="85290"/>
                    <a:pt x="102348" y="0"/>
                    <a:pt x="228600" y="0"/>
                  </a:cubicBezTo>
                  <a:close/>
                </a:path>
              </a:pathLst>
            </a:custGeom>
            <a:solidFill>
              <a:srgbClr val="FFF8F2">
                <a:alpha val="6000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860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438650" y="1343025"/>
            <a:ext cx="2490788" cy="104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All influencers onboarding</a:t>
            </a:r>
          </a:p>
          <a:p>
            <a:pPr algn="l">
              <a:lnSpc>
                <a:spcPts val="1650"/>
              </a:lnSpc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data of job received, </a:t>
            </a:r>
          </a:p>
          <a:p>
            <a:pPr algn="l" marL="0" indent="0" lvl="0">
              <a:lnSpc>
                <a:spcPts val="1650"/>
              </a:lnSpc>
              <a:spcBef>
                <a:spcPct val="0"/>
              </a:spcBef>
            </a:pPr>
            <a:r>
              <a:rPr lang="en-US" sz="1100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internal testing - Mini shop, Calendar,. TRY ON in live, blog, video upload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71500" y="3190875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FF8C42"/>
                </a:solidFill>
                <a:latin typeface="Exo 2"/>
                <a:ea typeface="Exo 2"/>
                <a:cs typeface="Exo 2"/>
                <a:sym typeface="Exo 2"/>
              </a:rPr>
              <a:t>WILSON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790700" y="2667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WK6-13: Platform live TINT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WK13: Backend onboarding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WK27: TINT onboarding call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433888" y="2667000"/>
            <a:ext cx="2495550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in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nal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sti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ng -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li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ve, bl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og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upload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Ensure each interface are smooth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Ensure Kieran know how to work on platform backend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086600" y="2667000"/>
            <a:ext cx="2495550" cy="19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final debug before soft launch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734550" y="2667000"/>
            <a:ext cx="249555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ENSURE ALL FUNCTION PERFECTLY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82500" y="2667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ROI Dashboard dev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DaaS API layer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030450" y="2667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Final deployment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FF8C42"/>
                </a:solidFill>
                <a:latin typeface="Montserrat"/>
                <a:ea typeface="Montserrat"/>
                <a:cs typeface="Montserrat"/>
                <a:sym typeface="Montserrat"/>
              </a:rPr>
              <a:t>Handover documentation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71500" y="4714875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6F5ACD"/>
                </a:solidFill>
                <a:latin typeface="Exo 2"/>
                <a:ea typeface="Exo 2"/>
                <a:cs typeface="Exo 2"/>
                <a:sym typeface="Exo 2"/>
              </a:rPr>
              <a:t>KIERAN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790700" y="4191000"/>
            <a:ext cx="2495550" cy="133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Finish Document (80%)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VENDOR DASHBOARD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Connect Korea WK6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Onboarding Doc WK13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Brand Final WK20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Korea Trip WK20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Korea continue if TINT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438650" y="4191000"/>
            <a:ext cx="2495550" cy="76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Confirm Influencer Partnership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Finalize platform is fully function</a:t>
            </a:r>
          </a:p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Plan pilot run with or without ads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7086600" y="4191000"/>
            <a:ext cx="249555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ENSURE ALL PARTIES ARE HAPPY AND ALIGN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734550" y="4191000"/>
            <a:ext cx="2495550" cy="381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REVIEW BASIC DATA WITH FAMILY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REVIEW BASIC DATA WITH BRAND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382500" y="4191000"/>
            <a:ext cx="249555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DaaS pre-sales HKD 200K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Data Analyst hire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Dashboard specs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5030450" y="4191000"/>
            <a:ext cx="2495550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Series A pitch NEST VC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Trial results compile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6F5ACD"/>
                </a:solidFill>
                <a:latin typeface="Montserrat"/>
                <a:ea typeface="Montserrat"/>
                <a:cs typeface="Montserrat"/>
                <a:sym typeface="Montserrat"/>
              </a:rPr>
              <a:t>Team scale to 5 FTE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71500" y="6238875"/>
            <a:ext cx="1047750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679"/>
              </a:lnSpc>
              <a:spcBef>
                <a:spcPct val="0"/>
              </a:spcBef>
            </a:pPr>
            <a:r>
              <a:rPr lang="en-US" sz="1200" strike="noStrike" u="none">
                <a:solidFill>
                  <a:srgbClr val="00BF63"/>
                </a:solidFill>
                <a:latin typeface="Exo 2"/>
                <a:ea typeface="Exo 2"/>
                <a:cs typeface="Exo 2"/>
                <a:sym typeface="Exo 2"/>
              </a:rPr>
              <a:t>LOREEN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785938" y="5715000"/>
            <a:ext cx="249555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Explore any C beauty brand with reputation WK13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Brand Final support WK20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Visual assets prep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438650" y="5715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Ensure Brand upload and follow up with influencer for launch project IF brands sign up for the service.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086600" y="5715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ENSURE HER BRANDS CONTENT AND PRODUCTS ARE ALREADY READY FOR LAUNCH.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734550" y="5715000"/>
            <a:ext cx="2495550" cy="572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ENSURE BOTH VENDOR AND INFLUENCERS KNOWS 100% TO USE THEIR TOOLS.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2382500" y="5715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DaaS brand identity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Report templates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030450" y="5715000"/>
            <a:ext cx="249555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Pitch deck design</a:t>
            </a:r>
          </a:p>
          <a:p>
            <a:pPr algn="l" marL="0" indent="0" lvl="0">
              <a:lnSpc>
                <a:spcPts val="1540"/>
              </a:lnSpc>
              <a:spcBef>
                <a:spcPct val="0"/>
              </a:spcBef>
            </a:pPr>
            <a:r>
              <a:rPr lang="en-US" sz="1100" strike="noStrike" u="none">
                <a:solidFill>
                  <a:srgbClr val="00BF63"/>
                </a:solidFill>
                <a:latin typeface="Montserrat"/>
                <a:ea typeface="Montserrat"/>
                <a:cs typeface="Montserrat"/>
                <a:sym typeface="Montserrat"/>
              </a:rPr>
              <a:t>Final brand package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76250" y="7448550"/>
            <a:ext cx="1238250" cy="32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Exo 2"/>
                <a:ea typeface="Exo 2"/>
                <a:cs typeface="Exo 2"/>
                <a:sym typeface="Exo 2"/>
              </a:rPr>
              <a:t>COST /</a:t>
            </a:r>
          </a:p>
          <a:p>
            <a:pPr algn="l" marL="0" indent="0" lvl="0">
              <a:lnSpc>
                <a:spcPts val="12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Exo 2"/>
                <a:ea typeface="Exo 2"/>
                <a:cs typeface="Exo 2"/>
                <a:sym typeface="Exo 2"/>
              </a:rPr>
              <a:t>REVENUE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79070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$15K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$0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43865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$20K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$0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708660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$35K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$5K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73455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$40K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$15K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238250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$45K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$40K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5030450" y="7439025"/>
            <a:ext cx="2495550" cy="33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Cost: $30K</a:t>
            </a:r>
          </a:p>
          <a:p>
            <a:pPr algn="l" marL="0" indent="0" lvl="0">
              <a:lnSpc>
                <a:spcPts val="1399"/>
              </a:lnSpc>
              <a:spcBef>
                <a:spcPct val="0"/>
              </a:spcBef>
            </a:pPr>
            <a:r>
              <a:rPr lang="en-US" sz="999" strike="noStrike" u="none">
                <a:solidFill>
                  <a:srgbClr val="2D2C36"/>
                </a:solidFill>
                <a:latin typeface="Montserrat"/>
                <a:ea typeface="Montserrat"/>
                <a:cs typeface="Montserrat"/>
                <a:sym typeface="Montserrat"/>
              </a:rPr>
              <a:t>Revenue: $80K</a:t>
            </a:r>
          </a:p>
        </p:txBody>
      </p:sp>
      <p:sp>
        <p:nvSpPr>
          <p:cNvPr name="AutoShape 81" id="81"/>
          <p:cNvSpPr/>
          <p:nvPr/>
        </p:nvSpPr>
        <p:spPr>
          <a:xfrm>
            <a:off x="476250" y="7267575"/>
            <a:ext cx="17145000" cy="0"/>
          </a:xfrm>
          <a:prstGeom prst="line">
            <a:avLst/>
          </a:prstGeom>
          <a:ln cap="flat" w="9525">
            <a:solidFill>
              <a:srgbClr val="BAB4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2" id="82"/>
          <p:cNvSpPr/>
          <p:nvPr/>
        </p:nvSpPr>
        <p:spPr>
          <a:xfrm>
            <a:off x="476250" y="2505075"/>
            <a:ext cx="17145000" cy="0"/>
          </a:xfrm>
          <a:prstGeom prst="line">
            <a:avLst/>
          </a:prstGeom>
          <a:ln cap="flat" w="9525">
            <a:solidFill>
              <a:srgbClr val="BAB4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3" id="83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E6E6E6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1E"/>
          </a:solidFill>
          <a:ln>
            <a:solidFill>
              <a:srgbClr val="0F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50000"/>
            <a:ext cx="1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Simplex-ity | 6-Month Financial Plan (July–December 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0000" y="620000"/>
            <a:ext cx="17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400">
                <a:solidFill>
                  <a:srgbClr val="B4B4B4"/>
                </a:solidFill>
              </a:rPr>
              <a:t>Scenario A: With Wilson (Human)   vs   Scenario B: AI Family (Optimised)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800000" y="1000000"/>
            <a:ext cx="2400000" cy="320000"/>
          </a:xfrm>
          <a:prstGeom prst="rect">
            <a:avLst/>
          </a:prstGeom>
          <a:solidFill>
            <a:srgbClr val="6450C8"/>
          </a:solidFill>
          <a:ln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00000" y="102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</a:rPr>
              <a:t>Jul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0000" y="1000000"/>
            <a:ext cx="2400000" cy="320000"/>
          </a:xfrm>
          <a:prstGeom prst="rect">
            <a:avLst/>
          </a:prstGeom>
          <a:solidFill>
            <a:srgbClr val="6450C8"/>
          </a:solidFill>
          <a:ln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0000" y="102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</a:rPr>
              <a:t>Aug</a:t>
            </a:r>
          </a:p>
        </p:txBody>
      </p:sp>
      <p:sp>
        <p:nvSpPr>
          <p:cNvPr id="9" name="Rectangle 8"/>
          <p:cNvSpPr/>
          <p:nvPr/>
        </p:nvSpPr>
        <p:spPr>
          <a:xfrm>
            <a:off x="7700000" y="1000000"/>
            <a:ext cx="2400000" cy="320000"/>
          </a:xfrm>
          <a:prstGeom prst="rect">
            <a:avLst/>
          </a:prstGeom>
          <a:solidFill>
            <a:srgbClr val="6450C8"/>
          </a:solidFill>
          <a:ln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00000" y="102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</a:rPr>
              <a:t>Sep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50000" y="1000000"/>
            <a:ext cx="2400000" cy="320000"/>
          </a:xfrm>
          <a:prstGeom prst="rect">
            <a:avLst/>
          </a:prstGeom>
          <a:solidFill>
            <a:srgbClr val="6450C8"/>
          </a:solidFill>
          <a:ln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0000" y="102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</a:rPr>
              <a:t>Oct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600000" y="1000000"/>
            <a:ext cx="2400000" cy="320000"/>
          </a:xfrm>
          <a:prstGeom prst="rect">
            <a:avLst/>
          </a:prstGeom>
          <a:solidFill>
            <a:srgbClr val="6450C8"/>
          </a:solidFill>
          <a:ln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600000" y="102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</a:rPr>
              <a:t>Nov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50000" y="1000000"/>
            <a:ext cx="2400000" cy="320000"/>
          </a:xfrm>
          <a:prstGeom prst="rect">
            <a:avLst/>
          </a:prstGeom>
          <a:solidFill>
            <a:srgbClr val="6450C8"/>
          </a:solidFill>
          <a:ln>
            <a:solidFill>
              <a:srgbClr val="6450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50000" y="1020000"/>
            <a:ext cx="24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500">
                <a:solidFill>
                  <a:srgbClr val="FFFFFF"/>
                </a:solidFill>
              </a:rPr>
              <a:t>Dec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0000" y="1400000"/>
            <a:ext cx="2500000" cy="380000"/>
          </a:xfrm>
          <a:prstGeom prst="rect">
            <a:avLst/>
          </a:prstGeom>
          <a:solidFill>
            <a:srgbClr val="3C3C64"/>
          </a:solidFill>
          <a:ln>
            <a:solidFill>
              <a:srgbClr val="3C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0000" y="14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C8C8FF"/>
                </a:solidFill>
              </a:rPr>
              <a:t>SCENARIO A — With Wilson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0000" y="1780000"/>
            <a:ext cx="25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Wilson Fee (HKD)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00000" y="178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0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$32K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0000" y="178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$32K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00000" y="178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$32K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50000" y="178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5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$32K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00000" y="178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60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$32K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50000" y="178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50000" y="18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$32K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0000" y="2160000"/>
            <a:ext cx="25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Platform / Tech Cost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00000" y="216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0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$5K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0000" y="216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5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$6K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00000" y="216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0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$8K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50000" y="216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5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$8K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600000" y="216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60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$8K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50000" y="216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050000" y="221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$5K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0000" y="2540000"/>
            <a:ext cx="25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Marketing / Ops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00000" y="254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0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0000" y="254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5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$5K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00000" y="254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0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$10K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150000" y="254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5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$14K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600000" y="254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260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$19K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5050000" y="2540000"/>
            <a:ext cx="2400000" cy="380000"/>
          </a:xfrm>
          <a:prstGeom prst="rect">
            <a:avLst/>
          </a:prstGeom>
          <a:solidFill>
            <a:srgbClr val="282846"/>
          </a:solidFill>
          <a:ln>
            <a:solidFill>
              <a:srgbClr val="28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050000" y="259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$19K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00000" y="2920000"/>
            <a:ext cx="25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5050"/>
                </a:solidFill>
              </a:rPr>
              <a:t>Total Cost (USD)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00000" y="292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0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$15K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250000" y="292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5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$20K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700000" y="292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70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$35K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50000" y="292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5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$40K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2600000" y="292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260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$45K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5050000" y="292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5050000" y="297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$30K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0000" y="3300000"/>
            <a:ext cx="25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50DC78"/>
                </a:solidFill>
              </a:rPr>
              <a:t>Revenue (USD)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800000" y="330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80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250000" y="330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25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700000" y="330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0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$5K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150000" y="330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15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$15K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600000" y="330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260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$40K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5050000" y="330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5050000" y="335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$80K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00000" y="3680000"/>
            <a:ext cx="25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5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C850"/>
                </a:solidFill>
              </a:rPr>
              <a:t>Net (USD)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00000" y="368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0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-$15K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250000" y="368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25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-$20K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700000" y="368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70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-$30K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150000" y="368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5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-$25K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600000" y="368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260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-$5K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5050000" y="3680000"/>
            <a:ext cx="2400000" cy="380000"/>
          </a:xfrm>
          <a:prstGeom prst="rect">
            <a:avLst/>
          </a:prstGeom>
          <a:solidFill>
            <a:srgbClr val="282850"/>
          </a:solidFill>
          <a:ln>
            <a:solidFill>
              <a:srgbClr val="282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5050000" y="373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+$50K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00000" y="4210000"/>
            <a:ext cx="2500000" cy="380000"/>
          </a:xfrm>
          <a:prstGeom prst="rect">
            <a:avLst/>
          </a:prstGeom>
          <a:solidFill>
            <a:srgbClr val="14503C"/>
          </a:solidFill>
          <a:ln>
            <a:solidFill>
              <a:srgbClr val="14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0000" y="42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300">
                <a:solidFill>
                  <a:srgbClr val="64FFB4"/>
                </a:solidFill>
              </a:rPr>
              <a:t>SCENARIO B — AI Family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00000" y="459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5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Wilson (Tech Only, HKD)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800000" y="45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80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$18K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250000" y="45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25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$18K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700000" y="45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70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$18K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0000" y="45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15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$18K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2600000" y="45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260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$18K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5050000" y="45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5050000" y="46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$10K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0000" y="497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5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Platform / Tech Cost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800000" y="49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80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$5K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250000" y="49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25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$6K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00000" y="49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70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$8K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0150000" y="49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015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$8K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2600000" y="49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260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$8K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15050000" y="49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15050000" y="50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$5K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00000" y="535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5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Marketing / Ops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2800000" y="535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80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$3K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250000" y="535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25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$5K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700000" y="535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70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$10K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150000" y="535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15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$14K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2600000" y="535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260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$19K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5050000" y="535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5050000" y="540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C8C8C8"/>
                </a:solidFill>
              </a:rPr>
              <a:t>$19K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00000" y="573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5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96DCFF"/>
                </a:solidFill>
              </a:rPr>
              <a:t>AI Tools / Simpee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2800000" y="573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80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96DCFF"/>
                </a:solidFill>
              </a:rPr>
              <a:t>$1K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250000" y="573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25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96DCFF"/>
                </a:solidFill>
              </a:rPr>
              <a:t>$1K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700000" y="573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770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96DCFF"/>
                </a:solidFill>
              </a:rPr>
              <a:t>$1K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10150000" y="573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1015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96DCFF"/>
                </a:solidFill>
              </a:rPr>
              <a:t>$1K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2600000" y="573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1260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96DCFF"/>
                </a:solidFill>
              </a:rPr>
              <a:t>$1K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15050000" y="573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15050000" y="578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200">
                <a:solidFill>
                  <a:srgbClr val="96DCFF"/>
                </a:solidFill>
              </a:rPr>
              <a:t>$1K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00000" y="611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5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5050"/>
                </a:solidFill>
              </a:rPr>
              <a:t>Total Cost (USD)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00000" y="611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80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$12K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5250000" y="611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25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$15K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700000" y="611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70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$28K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0150000" y="611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15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$32K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2600000" y="611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260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$37K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5050000" y="611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15050000" y="616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5050"/>
                </a:solidFill>
              </a:rPr>
              <a:t>$24K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00000" y="649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5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50DC78"/>
                </a:solidFill>
              </a:rPr>
              <a:t>Revenue (USD)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800000" y="64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80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$0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250000" y="64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25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$0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7700000" y="64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70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$5K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0150000" y="64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1015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$15K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2600000" y="64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260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$40K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5050000" y="649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5050000" y="654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50DC78"/>
                </a:solidFill>
              </a:rPr>
              <a:t>$80K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0000" y="6870000"/>
            <a:ext cx="25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5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C850"/>
                </a:solidFill>
              </a:rPr>
              <a:t>Net (USD)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800000" y="68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80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-$12K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250000" y="68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25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-$15K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7700000" y="68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770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-$23K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0150000" y="68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015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-$17K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2600000" y="68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1260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+$3K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5050000" y="6870000"/>
            <a:ext cx="2400000" cy="38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5050000" y="6920000"/>
            <a:ext cx="24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1200">
                <a:solidFill>
                  <a:srgbClr val="FFC850"/>
                </a:solidFill>
              </a:rPr>
              <a:t>+$56K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200000" y="7450000"/>
            <a:ext cx="17100000" cy="420000"/>
          </a:xfrm>
          <a:prstGeom prst="rect">
            <a:avLst/>
          </a:prstGeom>
          <a:solidFill>
            <a:srgbClr val="1E1E3C"/>
          </a:solidFill>
          <a:ln>
            <a:solidFill>
              <a:srgbClr val="1E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00000" y="7510000"/>
            <a:ext cx="17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64FFB4"/>
                </a:solidFill>
              </a:rPr>
              <a:t>💡  AI Family saves ~$28K–$33K USD over 6 months  |  Break-even moves from Dec to Nov  |  Total loss reduced from -$45K to -$12K USD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F0F1E"/>
          </a:solidFill>
          <a:ln>
            <a:solidFill>
              <a:srgbClr val="0F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0000" y="150000"/>
            <a:ext cx="17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2200">
                <a:solidFill>
                  <a:srgbClr val="FFFFFF"/>
                </a:solidFill>
              </a:rPr>
              <a:t>Simplex-ity | AI Family vs Wilson — Role Division &amp; Key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0000" y="750000"/>
            <a:ext cx="8700000" cy="420000"/>
          </a:xfrm>
          <a:prstGeom prst="rect">
            <a:avLst/>
          </a:prstGeom>
          <a:solidFill>
            <a:srgbClr val="3C3C78"/>
          </a:solidFill>
          <a:ln>
            <a:solidFill>
              <a:srgbClr val="3C3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780000"/>
            <a:ext cx="8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C8C8FF"/>
                </a:solidFill>
              </a:rPr>
              <a:t>🔧  WILSON — Keep (Tech Core Only)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0000" y="1250000"/>
            <a:ext cx="8700000" cy="420000"/>
          </a:xfrm>
          <a:prstGeom prst="rect">
            <a:avLst/>
          </a:prstGeom>
          <a:solidFill>
            <a:srgbClr val="1E1E3C"/>
          </a:solidFill>
          <a:ln>
            <a:solidFill>
              <a:srgbClr val="1E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000" y="131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Platform Development &amp; Bug Fixes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1730000"/>
            <a:ext cx="8700000" cy="420000"/>
          </a:xfrm>
          <a:prstGeom prst="rect">
            <a:avLst/>
          </a:prstGeom>
          <a:solidFill>
            <a:srgbClr val="191932"/>
          </a:solidFill>
          <a:ln>
            <a:solidFill>
              <a:srgbClr val="191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000" y="179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TINT / Banuba Technical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0000" y="2210000"/>
            <a:ext cx="8700000" cy="420000"/>
          </a:xfrm>
          <a:prstGeom prst="rect">
            <a:avLst/>
          </a:prstGeom>
          <a:solidFill>
            <a:srgbClr val="1E1E3C"/>
          </a:solidFill>
          <a:ln>
            <a:solidFill>
              <a:srgbClr val="1E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000" y="227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Frontend UI &amp; Mobile Optimisation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0000" y="2690000"/>
            <a:ext cx="8700000" cy="420000"/>
          </a:xfrm>
          <a:prstGeom prst="rect">
            <a:avLst/>
          </a:prstGeom>
          <a:solidFill>
            <a:srgbClr val="191932"/>
          </a:solidFill>
          <a:ln>
            <a:solidFill>
              <a:srgbClr val="191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000" y="275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Shopify Sync &amp; Product Upload Tech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0000" y="3170000"/>
            <a:ext cx="8700000" cy="420000"/>
          </a:xfrm>
          <a:prstGeom prst="rect">
            <a:avLst/>
          </a:prstGeom>
          <a:solidFill>
            <a:srgbClr val="1E1E3C"/>
          </a:solidFill>
          <a:ln>
            <a:solidFill>
              <a:srgbClr val="1E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000" y="323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ROI Dashboard Development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0000" y="3650000"/>
            <a:ext cx="8700000" cy="420000"/>
          </a:xfrm>
          <a:prstGeom prst="rect">
            <a:avLst/>
          </a:prstGeom>
          <a:solidFill>
            <a:srgbClr val="191932"/>
          </a:solidFill>
          <a:ln>
            <a:solidFill>
              <a:srgbClr val="191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000" y="371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DaaS API Layer Build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000" y="4130000"/>
            <a:ext cx="8700000" cy="420000"/>
          </a:xfrm>
          <a:prstGeom prst="rect">
            <a:avLst/>
          </a:prstGeom>
          <a:solidFill>
            <a:srgbClr val="1E1E3C"/>
          </a:solidFill>
          <a:ln>
            <a:solidFill>
              <a:srgbClr val="1E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000" y="419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Final Handover Documentation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0000" y="4610000"/>
            <a:ext cx="8700000" cy="420000"/>
          </a:xfrm>
          <a:prstGeom prst="rect">
            <a:avLst/>
          </a:prstGeom>
          <a:solidFill>
            <a:srgbClr val="191932"/>
          </a:solidFill>
          <a:ln>
            <a:solidFill>
              <a:srgbClr val="1919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000" y="467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B450"/>
                </a:solidFill>
              </a:rPr>
              <a:t>Suggested Fee: HKD $10K–$18K/month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0000" y="5090000"/>
            <a:ext cx="8700000" cy="420000"/>
          </a:xfrm>
          <a:prstGeom prst="rect">
            <a:avLst/>
          </a:prstGeom>
          <a:solidFill>
            <a:srgbClr val="1E1E3C"/>
          </a:solidFill>
          <a:ln>
            <a:solidFill>
              <a:srgbClr val="1E1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000" y="515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6464"/>
                </a:solidFill>
              </a:rPr>
              <a:t>Contract: Service Agreement (NO Equity)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0000" y="750000"/>
            <a:ext cx="8700000" cy="420000"/>
          </a:xfrm>
          <a:prstGeom prst="rect">
            <a:avLst/>
          </a:prstGeom>
          <a:solidFill>
            <a:srgbClr val="14503C"/>
          </a:solidFill>
          <a:ln>
            <a:solidFill>
              <a:srgbClr val="145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00000" y="780000"/>
            <a:ext cx="87000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64FFB4"/>
                </a:solidFill>
              </a:rPr>
              <a:t>🤖  AI FAMILY (Simpee) — Takes Over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00000" y="1250000"/>
            <a:ext cx="8700000" cy="42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50000" y="131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Daily Operations &amp; Task Tracking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00000" y="1730000"/>
            <a:ext cx="8700000" cy="420000"/>
          </a:xfrm>
          <a:prstGeom prst="rect">
            <a:avLst/>
          </a:prstGeom>
          <a:solidFill>
            <a:srgbClr val="0F3226"/>
          </a:solidFill>
          <a:ln>
            <a:solidFill>
              <a:srgbClr val="0F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50000" y="179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Brand &amp; Influencer Onboarding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00000" y="2210000"/>
            <a:ext cx="8700000" cy="42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50000" y="227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Campaign Calendar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00000" y="2690000"/>
            <a:ext cx="8700000" cy="420000"/>
          </a:xfrm>
          <a:prstGeom prst="rect">
            <a:avLst/>
          </a:prstGeom>
          <a:solidFill>
            <a:srgbClr val="0F3226"/>
          </a:solidFill>
          <a:ln>
            <a:solidFill>
              <a:srgbClr val="0F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0000" y="275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Compliance Reminders &amp; Monitoring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00000" y="3170000"/>
            <a:ext cx="8700000" cy="42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50000" y="323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Email Drafting &amp; Communication Log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00000" y="3650000"/>
            <a:ext cx="8700000" cy="420000"/>
          </a:xfrm>
          <a:prstGeom prst="rect">
            <a:avLst/>
          </a:prstGeom>
          <a:solidFill>
            <a:srgbClr val="0F3226"/>
          </a:solidFill>
          <a:ln>
            <a:solidFill>
              <a:srgbClr val="0F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50000" y="371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Monthly Reports &amp; Data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00000" y="4130000"/>
            <a:ext cx="8700000" cy="42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50000" y="419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200">
                <a:solidFill>
                  <a:srgbClr val="C8C8C8"/>
                </a:solidFill>
              </a:rPr>
              <a:t>360 Matrix Updates &amp; Pitch Deck Support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00000" y="4610000"/>
            <a:ext cx="8700000" cy="420000"/>
          </a:xfrm>
          <a:prstGeom prst="rect">
            <a:avLst/>
          </a:prstGeom>
          <a:solidFill>
            <a:srgbClr val="0F3226"/>
          </a:solidFill>
          <a:ln>
            <a:solidFill>
              <a:srgbClr val="0F3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50000" y="467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64FFB4"/>
                </a:solidFill>
              </a:rPr>
              <a:t>Cost: ~$1K USD/month (platform fees)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00000" y="5090000"/>
            <a:ext cx="8700000" cy="420000"/>
          </a:xfrm>
          <a:prstGeom prst="rect">
            <a:avLst/>
          </a:prstGeom>
          <a:solidFill>
            <a:srgbClr val="143C2D"/>
          </a:solidFill>
          <a:ln>
            <a:solidFill>
              <a:srgbClr val="143C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50000" y="5150000"/>
            <a:ext cx="85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64FFB4"/>
                </a:solidFill>
              </a:rPr>
              <a:t>Benefit: Available 24/7, no equity needed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0000" y="5770000"/>
            <a:ext cx="17400000" cy="500000"/>
          </a:xfrm>
          <a:prstGeom prst="rect">
            <a:avLst/>
          </a:prstGeom>
          <a:solidFill>
            <a:srgbClr val="281414"/>
          </a:solidFill>
          <a:ln>
            <a:solidFill>
              <a:srgbClr val="28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0000" y="5850000"/>
            <a:ext cx="172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200">
                <a:solidFill>
                  <a:srgbClr val="FFB450"/>
                </a:solidFill>
              </a:rPr>
              <a:t>⚠️  Key Note for Wed Meeting: Wilson provides value as TECH lead — not operations. Redefine scope before discussing fees. No equity justified while on salary.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DAHMiLsNPjk</dc:identifier>
  <dcterms:modified xsi:type="dcterms:W3CDTF">2011-08-01T06:04:30Z</dcterms:modified>
  <cp:revision>1</cp:revision>
  <dc:title>6-Month Roadmap Timeline Table</dc:title>
</cp:coreProperties>
</file>