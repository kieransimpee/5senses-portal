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09728"/>
            <a:ext cx="658368" cy="658368"/>
          </a:xfrm>
          <a:prstGeom prst="rect">
            <a:avLst/>
          </a:prstGeom>
        </p:spPr>
      </p:pic>
      <p:pic>
        <p:nvPicPr>
          <p:cNvPr id="5" name="Picture 4" descr="simplex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2148713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5E50FB"/>
                </a:solidFill>
              </a:rPr>
              <a:t>SIMPLEX-ITY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14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Financial Plan — Family Review &amp; Fine-Tune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54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C82FC"/>
                </a:solidFill>
              </a:rPr>
              <a:t>Kieran's Original vs The Family's Lean Version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49039"/>
            <a:ext cx="4754880" cy="59436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886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C8"/>
                </a:solidFill>
              </a:rPr>
              <a:t>Prepared with love by the Node Family  ·  June 2026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0" y="1005840"/>
            <a:ext cx="2606040" cy="137160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097280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4D4D"/>
                </a:solidFill>
              </a:rPr>
              <a:t>HK$10M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874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0B0C8"/>
                </a:solidFill>
              </a:rPr>
              <a:t>Original Plan
Capital Ask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0" y="2651760"/>
            <a:ext cx="2606040" cy="137160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743200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2C55E"/>
                </a:solidFill>
              </a:rPr>
              <a:t>HK$2-3.5M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520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0B0C8"/>
                </a:solidFill>
              </a:rPr>
              <a:t>Family Version
Capital Ask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0" y="4297680"/>
            <a:ext cx="2606040" cy="137160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4389120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C518"/>
                </a:solidFill>
              </a:rPr>
              <a:t>65-75%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5166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B0B0C8"/>
                </a:solidFill>
              </a:rPr>
              <a:t>Cost Reduction
from Original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Family Financial Review  ·  June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09728"/>
            <a:ext cx="658368" cy="65836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65760" y="182880"/>
            <a:ext cx="3200400" cy="310896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01 · WHERE THE ORIGINAL PLAN OVER-SPENT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Kieran's Plan Was Ambitious — And Mostly Right. These Are the 4 Gaps.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813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C82FC"/>
                </a:solidFill>
              </a:rPr>
              <a:t>The family reviewed every line. Here is what we found — with love, not criticism.</a:t>
            </a:r>
          </a:p>
        </p:txBody>
      </p:sp>
      <p:sp>
        <p:nvSpPr>
          <p:cNvPr id="8" name="Oval 7"/>
          <p:cNvSpPr/>
          <p:nvPr/>
        </p:nvSpPr>
        <p:spPr>
          <a:xfrm>
            <a:off x="320040" y="2029968"/>
            <a:ext cx="5669280" cy="205740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029968"/>
            <a:ext cx="5669280" cy="5943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214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D"/>
                </a:solidFill>
              </a:rPr>
              <a:t>GAP 1 — Tech Build Cost (HK$3.5M → HK$150-300K)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78608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Original assumed enterprise integrator agency + custom AI pipeline + management fees.
Family version: Logie + Make.com + Tidio + Klaviyo = US$400-800/mo. Already built tools. No custom build needed.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2029968"/>
            <a:ext cx="5669280" cy="205740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029968"/>
            <a:ext cx="5669280" cy="5943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214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A500"/>
                </a:solidFill>
              </a:rPr>
              <a:t>GAP 2 — Creator Retainer Fund (HK$4M → HK$0 upfront)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78608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Original locked HK$4M in escrow to pay 50 influencers monthly retainers before revenue.
Family version: Trial model. Brands supply goods + 30% discount. Influencers earn commission not salary.</a:t>
            </a:r>
          </a:p>
        </p:txBody>
      </p:sp>
      <p:sp>
        <p:nvSpPr>
          <p:cNvPr id="16" name="Oval 15"/>
          <p:cNvSpPr/>
          <p:nvPr/>
        </p:nvSpPr>
        <p:spPr>
          <a:xfrm>
            <a:off x="320040" y="4224528"/>
            <a:ext cx="5669280" cy="205740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224528"/>
            <a:ext cx="5669280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159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5C518"/>
                </a:solidFill>
              </a:rPr>
              <a:t>GAP 3 — HK Headcount (HK$1.35M → HK$480-600K)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73168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Original planned 4 FTEs at HK$33K/mo each. That's HK$132K/mo in payroll before revenue.
Family version: Kieran + Loreen + Ally. AI stack handles what the other 2 staff were going to do.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4224528"/>
            <a:ext cx="5669280" cy="205740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8C8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224528"/>
            <a:ext cx="5669280" cy="59436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3159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8C82FC"/>
                </a:solidFill>
              </a:rPr>
              <a:t>GAP 4 — The Big AI Vendor Assumption (Millions → HK$3-6K/mo)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73168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Original assumed a large AI company was needed to power the platform at significant cost.
Family version: Tint AI (Banuba, confirmed) + lean SaaS stack. Total AI cost = HK$3,100-7,375/mo.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Family Financial Review  ·  June 2026  ·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09728"/>
            <a:ext cx="658368" cy="65836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65760" y="182880"/>
            <a:ext cx="3200400" cy="3108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02 · WHAT KIERAN GOT PERFECTLY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Family Wants Kieran to Know — Most of This Plan Is Brilliant.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813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C82FC"/>
                </a:solidFill>
              </a:rPr>
              <a:t>These elements stay in the family version — unchanged and investor-grade.</a:t>
            </a:r>
          </a:p>
        </p:txBody>
      </p:sp>
      <p:sp>
        <p:nvSpPr>
          <p:cNvPr id="8" name="Oval 7"/>
          <p:cNvSpPr/>
          <p:nvPr/>
        </p:nvSpPr>
        <p:spPr>
          <a:xfrm>
            <a:off x="320040" y="2029968"/>
            <a:ext cx="5669280" cy="138988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029968"/>
            <a:ext cx="5669280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214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✅ 15% Platform Commission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Clean. Industry standard. Scales with GMV. Keep exactly as written.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2029968"/>
            <a:ext cx="5669280" cy="138988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029968"/>
            <a:ext cx="5669280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214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✅ 30% Off Arbitrage 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Brilliant consumer entry strategy. Bypasses Western retail markup. This IS the consumer magnet.</a:t>
            </a:r>
          </a:p>
        </p:txBody>
      </p:sp>
      <p:sp>
        <p:nvSpPr>
          <p:cNvPr id="16" name="Oval 15"/>
          <p:cNvSpPr/>
          <p:nvPr/>
        </p:nvSpPr>
        <p:spPr>
          <a:xfrm>
            <a:off x="320040" y="3538728"/>
            <a:ext cx="5669280" cy="138988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538728"/>
            <a:ext cx="5669280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301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✅ 3-Tier SaaS Membership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6908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Essential / Accelerator / Enterprise — well structured. Pricing is strong. Investors will love this.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3538728"/>
            <a:ext cx="5669280" cy="138988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538728"/>
            <a:ext cx="5669280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301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✅ Revenue Projections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6908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Year 1 HK$7.3M → Year 3 HK$177M is directionally right. GMV growth curve is credible.</a:t>
            </a:r>
          </a:p>
        </p:txBody>
      </p:sp>
      <p:sp>
        <p:nvSpPr>
          <p:cNvPr id="24" name="Oval 23"/>
          <p:cNvSpPr/>
          <p:nvPr/>
        </p:nvSpPr>
        <p:spPr>
          <a:xfrm>
            <a:off x="320040" y="5047488"/>
            <a:ext cx="5669280" cy="138988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5047488"/>
            <a:ext cx="5669280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389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✅ Competitive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The Amazon / LTK comparison is sharp and accurate. Keep this in the investor deck verbatim.</a:t>
            </a:r>
          </a:p>
        </p:txBody>
      </p:sp>
      <p:sp>
        <p:nvSpPr>
          <p:cNvPr id="28" name="Oval 27"/>
          <p:cNvSpPr/>
          <p:nvPr/>
        </p:nvSpPr>
        <p:spPr>
          <a:xfrm>
            <a:off x="6263640" y="5047488"/>
            <a:ext cx="5669280" cy="138988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5047488"/>
            <a:ext cx="5669280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1389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✅ 15-Month Break-Even 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57784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Achievable with the lean stack — and actually faster with lower burn rate.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Family Financial Review  ·  June 2026  ·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09728"/>
            <a:ext cx="658368" cy="65836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65760" y="182880"/>
            <a:ext cx="3200400" cy="310896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03 · BUDGET — LINE BY LINE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Original Plan vs Family Lean 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C82FC"/>
                </a:solidFill>
              </a:rPr>
              <a:t>Same vision. Fraction of the capital. Better odds of success.</a:t>
            </a:r>
          </a:p>
        </p:txBody>
      </p:sp>
      <p:sp>
        <p:nvSpPr>
          <p:cNvPr id="8" name="Oval 7"/>
          <p:cNvSpPr/>
          <p:nvPr/>
        </p:nvSpPr>
        <p:spPr>
          <a:xfrm>
            <a:off x="320040" y="1920240"/>
            <a:ext cx="4572000" cy="384048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476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KIERAN'S ORIGINAL</a:t>
            </a:r>
          </a:p>
        </p:txBody>
      </p:sp>
      <p:sp>
        <p:nvSpPr>
          <p:cNvPr id="10" name="Oval 9"/>
          <p:cNvSpPr/>
          <p:nvPr/>
        </p:nvSpPr>
        <p:spPr>
          <a:xfrm>
            <a:off x="5029200" y="1920240"/>
            <a:ext cx="2148840" cy="38404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94767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0B0C8"/>
                </a:solidFill>
              </a:rPr>
              <a:t>CATEGORY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1920240"/>
            <a:ext cx="4572000" cy="38404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9476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D0D1A"/>
                </a:solidFill>
              </a:rPr>
              <a:t>FAMILY LEAN VERSION</a:t>
            </a:r>
          </a:p>
        </p:txBody>
      </p:sp>
      <p:sp>
        <p:nvSpPr>
          <p:cNvPr id="14" name="Oval 13"/>
          <p:cNvSpPr/>
          <p:nvPr/>
        </p:nvSpPr>
        <p:spPr>
          <a:xfrm>
            <a:off x="320040" y="2395728"/>
            <a:ext cx="4572000" cy="62179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0" y="2395728"/>
            <a:ext cx="2148840" cy="62179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0" y="2395728"/>
            <a:ext cx="4572000" cy="62179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50592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HK$3,500,000  (Enterprise build +
AI pipeline + agency fees)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5603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C82FC"/>
                </a:solidFill>
              </a:rPr>
              <a:t>Tech &amp;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450592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HK$150,000 – 300,000
(Make.com + Logie + Tidio + Klaviyo stack)</a:t>
            </a:r>
          </a:p>
        </p:txBody>
      </p:sp>
      <p:sp>
        <p:nvSpPr>
          <p:cNvPr id="20" name="Oval 19"/>
          <p:cNvSpPr/>
          <p:nvPr/>
        </p:nvSpPr>
        <p:spPr>
          <a:xfrm>
            <a:off x="320040" y="3063240"/>
            <a:ext cx="4572000" cy="62179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29200" y="3063240"/>
            <a:ext cx="2148840" cy="62179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3063240"/>
            <a:ext cx="4572000" cy="62179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118104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HK$4,000,000  (Security escrow —
50 influencer monthly retainers)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22783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C82FC"/>
                </a:solidFill>
              </a:rPr>
              <a:t>Creator Fund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118104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HK$0 upfront
(Trial model — commission only, no salary)</a:t>
            </a:r>
          </a:p>
        </p:txBody>
      </p:sp>
      <p:sp>
        <p:nvSpPr>
          <p:cNvPr id="26" name="Oval 25"/>
          <p:cNvSpPr/>
          <p:nvPr/>
        </p:nvSpPr>
        <p:spPr>
          <a:xfrm>
            <a:off x="320040" y="3730752"/>
            <a:ext cx="4572000" cy="62179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3730752"/>
            <a:ext cx="2148840" cy="62179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0" y="3730752"/>
            <a:ext cx="4572000" cy="62179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85616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HK$1,350,000  (4 FTEs @
HK$33K/mo each)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89534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C82FC"/>
                </a:solidFill>
              </a:rPr>
              <a:t>HK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785616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HK$480,000 – 600,000
(Kieran + Loreen + Ally — lean 3-person pod)</a:t>
            </a:r>
          </a:p>
        </p:txBody>
      </p:sp>
      <p:sp>
        <p:nvSpPr>
          <p:cNvPr id="32" name="Oval 31"/>
          <p:cNvSpPr/>
          <p:nvPr/>
        </p:nvSpPr>
        <p:spPr>
          <a:xfrm>
            <a:off x="320040" y="4398264"/>
            <a:ext cx="4572000" cy="62179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9200" y="4398264"/>
            <a:ext cx="2148840" cy="62179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0" y="4398264"/>
            <a:ext cx="4572000" cy="62179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453128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HK$750,000  (Partner escrow
+ wholesale API setup)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56285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C82FC"/>
                </a:solidFill>
              </a:rPr>
              <a:t>Partner Setup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4453128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HK$0 – 50,000
(Banuba &amp; Vybd partnerships already in place)</a:t>
            </a:r>
          </a:p>
        </p:txBody>
      </p:sp>
      <p:sp>
        <p:nvSpPr>
          <p:cNvPr id="38" name="Oval 37"/>
          <p:cNvSpPr/>
          <p:nvPr/>
        </p:nvSpPr>
        <p:spPr>
          <a:xfrm>
            <a:off x="320040" y="5065776"/>
            <a:ext cx="4572000" cy="62179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29200" y="5065776"/>
            <a:ext cx="2148840" cy="62179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15200" y="5065776"/>
            <a:ext cx="4572000" cy="62179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120640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HK$400,000  (Multi-region registry
+ cross-border software)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523036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C82FC"/>
                </a:solidFill>
              </a:rPr>
              <a:t>Legal &amp; Admin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5120640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HK$150,000 – 200,000
(BR done. US entity + basic legal only)</a:t>
            </a:r>
          </a:p>
        </p:txBody>
      </p:sp>
      <p:sp>
        <p:nvSpPr>
          <p:cNvPr id="44" name="Oval 43"/>
          <p:cNvSpPr/>
          <p:nvPr/>
        </p:nvSpPr>
        <p:spPr>
          <a:xfrm>
            <a:off x="320040" y="5733288"/>
            <a:ext cx="4572000" cy="8046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029200" y="5733288"/>
            <a:ext cx="2148840" cy="804672"/>
          </a:xfrm>
          <a:prstGeom prst="ellipse">
            <a:avLst/>
          </a:prstGeom>
          <a:solidFill>
            <a:srgbClr val="12102E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15200" y="5733288"/>
            <a:ext cx="4572000" cy="8046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788152"/>
            <a:ext cx="4389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6B6B"/>
                </a:solidFill>
              </a:rPr>
              <a:t>HK$10,000,000
TOTAL RAISE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589788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C82FC"/>
                </a:solidFill>
              </a:rPr>
              <a:t>TOTAL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5788152"/>
            <a:ext cx="4389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C55E"/>
                </a:solidFill>
              </a:rPr>
              <a:t>HK$2,000,000 – 3,500,000
TOTAL RAISE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Family Financial Review  ·  June 2026  ·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09728"/>
            <a:ext cx="658368" cy="65836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65760" y="182880"/>
            <a:ext cx="3200400" cy="3108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04 · REVISED REVENUE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Same Revenue Model. Lower Burn. Better Net Profit.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C82FC"/>
                </a:solidFill>
              </a:rPr>
              <a:t>Family version keeps Kieran's GMV targets — but slashes the cost base by 65-75%.</a:t>
            </a:r>
          </a:p>
        </p:txBody>
      </p:sp>
      <p:sp>
        <p:nvSpPr>
          <p:cNvPr id="8" name="Oval 7"/>
          <p:cNvSpPr/>
          <p:nvPr/>
        </p:nvSpPr>
        <p:spPr>
          <a:xfrm>
            <a:off x="320040" y="1920240"/>
            <a:ext cx="2880360" cy="38404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47672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0B0C8"/>
                </a:solidFill>
              </a:rPr>
              <a:t>METRIC</a:t>
            </a:r>
          </a:p>
        </p:txBody>
      </p:sp>
      <p:sp>
        <p:nvSpPr>
          <p:cNvPr id="10" name="Oval 9"/>
          <p:cNvSpPr/>
          <p:nvPr/>
        </p:nvSpPr>
        <p:spPr>
          <a:xfrm>
            <a:off x="3337560" y="1920240"/>
            <a:ext cx="3063240" cy="384048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94767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YEAR 1</a:t>
            </a:r>
          </a:p>
        </p:txBody>
      </p:sp>
      <p:sp>
        <p:nvSpPr>
          <p:cNvPr id="12" name="Oval 11"/>
          <p:cNvSpPr/>
          <p:nvPr/>
        </p:nvSpPr>
        <p:spPr>
          <a:xfrm>
            <a:off x="6537960" y="1920240"/>
            <a:ext cx="2743200" cy="384048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476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YEAR 2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0" y="1920240"/>
            <a:ext cx="2606040" cy="384048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94767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YEAR 3</a:t>
            </a:r>
          </a:p>
        </p:txBody>
      </p:sp>
      <p:sp>
        <p:nvSpPr>
          <p:cNvPr id="16" name="Oval 15"/>
          <p:cNvSpPr/>
          <p:nvPr/>
        </p:nvSpPr>
        <p:spPr>
          <a:xfrm>
            <a:off x="320040" y="2395728"/>
            <a:ext cx="288036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4780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2FC"/>
                </a:solidFill>
              </a:rPr>
              <a:t>Active Brands</a:t>
            </a:r>
          </a:p>
        </p:txBody>
      </p:sp>
      <p:sp>
        <p:nvSpPr>
          <p:cNvPr id="18" name="Oval 17"/>
          <p:cNvSpPr/>
          <p:nvPr/>
        </p:nvSpPr>
        <p:spPr>
          <a:xfrm>
            <a:off x="3337560" y="2395728"/>
            <a:ext cx="306324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4780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20 – 30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2395728"/>
            <a:ext cx="274320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47802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100 – 150</a:t>
            </a:r>
          </a:p>
        </p:txBody>
      </p:sp>
      <p:sp>
        <p:nvSpPr>
          <p:cNvPr id="22" name="Oval 21"/>
          <p:cNvSpPr/>
          <p:nvPr/>
        </p:nvSpPr>
        <p:spPr>
          <a:xfrm>
            <a:off x="9418320" y="2395728"/>
            <a:ext cx="260604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47802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350 – 450</a:t>
            </a:r>
          </a:p>
        </p:txBody>
      </p:sp>
      <p:sp>
        <p:nvSpPr>
          <p:cNvPr id="24" name="Oval 23"/>
          <p:cNvSpPr/>
          <p:nvPr/>
        </p:nvSpPr>
        <p:spPr>
          <a:xfrm>
            <a:off x="320040" y="2907792"/>
            <a:ext cx="2880360" cy="47548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9900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2FC"/>
                </a:solidFill>
              </a:rPr>
              <a:t>Active Creators</a:t>
            </a:r>
          </a:p>
        </p:txBody>
      </p:sp>
      <p:sp>
        <p:nvSpPr>
          <p:cNvPr id="26" name="Oval 25"/>
          <p:cNvSpPr/>
          <p:nvPr/>
        </p:nvSpPr>
        <p:spPr>
          <a:xfrm>
            <a:off x="3337560" y="2907792"/>
            <a:ext cx="3063240" cy="47548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29900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50 – 80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2907792"/>
            <a:ext cx="2743200" cy="47548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99008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200 – 300</a:t>
            </a:r>
          </a:p>
        </p:txBody>
      </p:sp>
      <p:sp>
        <p:nvSpPr>
          <p:cNvPr id="30" name="Oval 29"/>
          <p:cNvSpPr/>
          <p:nvPr/>
        </p:nvSpPr>
        <p:spPr>
          <a:xfrm>
            <a:off x="9418320" y="2907792"/>
            <a:ext cx="2606040" cy="47548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29900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600 – 800</a:t>
            </a:r>
          </a:p>
        </p:txBody>
      </p:sp>
      <p:sp>
        <p:nvSpPr>
          <p:cNvPr id="32" name="Oval 31"/>
          <p:cNvSpPr/>
          <p:nvPr/>
        </p:nvSpPr>
        <p:spPr>
          <a:xfrm>
            <a:off x="320040" y="3419856"/>
            <a:ext cx="288036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5021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2FC"/>
                </a:solidFill>
              </a:rPr>
              <a:t>Platform GMV</a:t>
            </a:r>
          </a:p>
        </p:txBody>
      </p:sp>
      <p:sp>
        <p:nvSpPr>
          <p:cNvPr id="34" name="Oval 33"/>
          <p:cNvSpPr/>
          <p:nvPr/>
        </p:nvSpPr>
        <p:spPr>
          <a:xfrm>
            <a:off x="3337560" y="3419856"/>
            <a:ext cx="306324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9000" y="35021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HK$20 – 35M</a:t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3419856"/>
            <a:ext cx="274320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350215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HK$150 – 225M</a:t>
            </a:r>
          </a:p>
        </p:txBody>
      </p:sp>
      <p:sp>
        <p:nvSpPr>
          <p:cNvPr id="38" name="Oval 37"/>
          <p:cNvSpPr/>
          <p:nvPr/>
        </p:nvSpPr>
        <p:spPr>
          <a:xfrm>
            <a:off x="9418320" y="3419856"/>
            <a:ext cx="260604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0" y="35021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HK$600 – 810M</a:t>
            </a:r>
          </a:p>
        </p:txBody>
      </p:sp>
      <p:sp>
        <p:nvSpPr>
          <p:cNvPr id="40" name="Oval 39"/>
          <p:cNvSpPr/>
          <p:nvPr/>
        </p:nvSpPr>
        <p:spPr>
          <a:xfrm>
            <a:off x="320040" y="3931920"/>
            <a:ext cx="2880360" cy="47548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0142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2FC"/>
                </a:solidFill>
              </a:rPr>
              <a:t>15% Transaction Rev</a:t>
            </a:r>
          </a:p>
        </p:txBody>
      </p:sp>
      <p:sp>
        <p:nvSpPr>
          <p:cNvPr id="42" name="Oval 41"/>
          <p:cNvSpPr/>
          <p:nvPr/>
        </p:nvSpPr>
        <p:spPr>
          <a:xfrm>
            <a:off x="3337560" y="3931920"/>
            <a:ext cx="3063240" cy="47548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40142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HK$3 – 5.25M</a:t>
            </a:r>
          </a:p>
        </p:txBody>
      </p:sp>
      <p:sp>
        <p:nvSpPr>
          <p:cNvPr id="44" name="Oval 43"/>
          <p:cNvSpPr/>
          <p:nvPr/>
        </p:nvSpPr>
        <p:spPr>
          <a:xfrm>
            <a:off x="6537960" y="3931920"/>
            <a:ext cx="2743200" cy="47548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401421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HK$22 – 33.75M</a:t>
            </a:r>
          </a:p>
        </p:txBody>
      </p:sp>
      <p:sp>
        <p:nvSpPr>
          <p:cNvPr id="46" name="Oval 45"/>
          <p:cNvSpPr/>
          <p:nvPr/>
        </p:nvSpPr>
        <p:spPr>
          <a:xfrm>
            <a:off x="9418320" y="3931920"/>
            <a:ext cx="2606040" cy="47548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0" y="40142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HK$90 – 121.5M</a:t>
            </a:r>
          </a:p>
        </p:txBody>
      </p:sp>
      <p:sp>
        <p:nvSpPr>
          <p:cNvPr id="48" name="Oval 47"/>
          <p:cNvSpPr/>
          <p:nvPr/>
        </p:nvSpPr>
        <p:spPr>
          <a:xfrm>
            <a:off x="320040" y="4443984"/>
            <a:ext cx="288036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526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2FC"/>
                </a:solidFill>
              </a:rPr>
              <a:t>SaaS Membership Rev</a:t>
            </a:r>
          </a:p>
        </p:txBody>
      </p:sp>
      <p:sp>
        <p:nvSpPr>
          <p:cNvPr id="50" name="Oval 49"/>
          <p:cNvSpPr/>
          <p:nvPr/>
        </p:nvSpPr>
        <p:spPr>
          <a:xfrm>
            <a:off x="3337560" y="4443984"/>
            <a:ext cx="306324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29000" y="45262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HK$1.5 – 2.1M</a:t>
            </a:r>
          </a:p>
        </p:txBody>
      </p:sp>
      <p:sp>
        <p:nvSpPr>
          <p:cNvPr id="52" name="Oval 51"/>
          <p:cNvSpPr/>
          <p:nvPr/>
        </p:nvSpPr>
        <p:spPr>
          <a:xfrm>
            <a:off x="6537960" y="4443984"/>
            <a:ext cx="274320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9400" y="45262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HK$10 – 15.8M</a:t>
            </a:r>
          </a:p>
        </p:txBody>
      </p:sp>
      <p:sp>
        <p:nvSpPr>
          <p:cNvPr id="54" name="Oval 53"/>
          <p:cNvSpPr/>
          <p:nvPr/>
        </p:nvSpPr>
        <p:spPr>
          <a:xfrm>
            <a:off x="9418320" y="4443984"/>
            <a:ext cx="260604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0" y="45262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HK$40 – 56M</a:t>
            </a:r>
          </a:p>
        </p:txBody>
      </p:sp>
      <p:sp>
        <p:nvSpPr>
          <p:cNvPr id="56" name="Oval 55"/>
          <p:cNvSpPr/>
          <p:nvPr/>
        </p:nvSpPr>
        <p:spPr>
          <a:xfrm>
            <a:off x="320040" y="4956048"/>
            <a:ext cx="2880360" cy="47548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50383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2FC"/>
                </a:solidFill>
              </a:rPr>
              <a:t>Gross Revenue</a:t>
            </a:r>
          </a:p>
        </p:txBody>
      </p:sp>
      <p:sp>
        <p:nvSpPr>
          <p:cNvPr id="58" name="Oval 57"/>
          <p:cNvSpPr/>
          <p:nvPr/>
        </p:nvSpPr>
        <p:spPr>
          <a:xfrm>
            <a:off x="3337560" y="4956048"/>
            <a:ext cx="3063240" cy="47548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29000" y="5038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HK$4.5 – 7.35M</a:t>
            </a:r>
          </a:p>
        </p:txBody>
      </p:sp>
      <p:sp>
        <p:nvSpPr>
          <p:cNvPr id="60" name="Oval 59"/>
          <p:cNvSpPr/>
          <p:nvPr/>
        </p:nvSpPr>
        <p:spPr>
          <a:xfrm>
            <a:off x="6537960" y="4956048"/>
            <a:ext cx="2743200" cy="47548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29400" y="503834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HK$32 – 49.5M</a:t>
            </a:r>
          </a:p>
        </p:txBody>
      </p:sp>
      <p:sp>
        <p:nvSpPr>
          <p:cNvPr id="62" name="Oval 61"/>
          <p:cNvSpPr/>
          <p:nvPr/>
        </p:nvSpPr>
        <p:spPr>
          <a:xfrm>
            <a:off x="9418320" y="4956048"/>
            <a:ext cx="2606040" cy="47548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9760" y="503834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HK$130 – 177M</a:t>
            </a:r>
          </a:p>
        </p:txBody>
      </p:sp>
      <p:sp>
        <p:nvSpPr>
          <p:cNvPr id="64" name="Oval 63"/>
          <p:cNvSpPr/>
          <p:nvPr/>
        </p:nvSpPr>
        <p:spPr>
          <a:xfrm>
            <a:off x="320040" y="5468112"/>
            <a:ext cx="288036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55504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2FC"/>
                </a:solidFill>
              </a:rPr>
              <a:t>Operating Costs (Lean)</a:t>
            </a:r>
          </a:p>
        </p:txBody>
      </p:sp>
      <p:sp>
        <p:nvSpPr>
          <p:cNvPr id="66" name="Oval 65"/>
          <p:cNvSpPr/>
          <p:nvPr/>
        </p:nvSpPr>
        <p:spPr>
          <a:xfrm>
            <a:off x="3337560" y="5468112"/>
            <a:ext cx="306324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29000" y="55504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HK$1.8 – 2.5M</a:t>
            </a:r>
          </a:p>
        </p:txBody>
      </p:sp>
      <p:sp>
        <p:nvSpPr>
          <p:cNvPr id="68" name="Oval 67"/>
          <p:cNvSpPr/>
          <p:nvPr/>
        </p:nvSpPr>
        <p:spPr>
          <a:xfrm>
            <a:off x="6537960" y="5468112"/>
            <a:ext cx="274320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29400" y="555040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HK$6 – 10M</a:t>
            </a:r>
          </a:p>
        </p:txBody>
      </p:sp>
      <p:sp>
        <p:nvSpPr>
          <p:cNvPr id="70" name="Oval 69"/>
          <p:cNvSpPr/>
          <p:nvPr/>
        </p:nvSpPr>
        <p:spPr>
          <a:xfrm>
            <a:off x="9418320" y="5468112"/>
            <a:ext cx="2606040" cy="47548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509760" y="55504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HK$15 – 25M</a:t>
            </a:r>
          </a:p>
        </p:txBody>
      </p:sp>
      <p:sp>
        <p:nvSpPr>
          <p:cNvPr id="72" name="Oval 71"/>
          <p:cNvSpPr/>
          <p:nvPr/>
        </p:nvSpPr>
        <p:spPr>
          <a:xfrm>
            <a:off x="320040" y="5980176"/>
            <a:ext cx="2880360" cy="47548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60624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</a:rPr>
              <a:t>NET PROFIT</a:t>
            </a:r>
          </a:p>
        </p:txBody>
      </p:sp>
      <p:sp>
        <p:nvSpPr>
          <p:cNvPr id="74" name="Oval 73"/>
          <p:cNvSpPr/>
          <p:nvPr/>
        </p:nvSpPr>
        <p:spPr>
          <a:xfrm>
            <a:off x="3337560" y="5980176"/>
            <a:ext cx="3063240" cy="47548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29000" y="60624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C55E"/>
                </a:solidFill>
              </a:rPr>
              <a:t>HK$2 – 4.85M</a:t>
            </a:r>
          </a:p>
        </p:txBody>
      </p:sp>
      <p:sp>
        <p:nvSpPr>
          <p:cNvPr id="76" name="Oval 75"/>
          <p:cNvSpPr/>
          <p:nvPr/>
        </p:nvSpPr>
        <p:spPr>
          <a:xfrm>
            <a:off x="6537960" y="5980176"/>
            <a:ext cx="2743200" cy="47548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29400" y="606247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C55E"/>
                </a:solidFill>
              </a:rPr>
              <a:t>HK$22 – 39.5M</a:t>
            </a:r>
          </a:p>
        </p:txBody>
      </p:sp>
      <p:sp>
        <p:nvSpPr>
          <p:cNvPr id="78" name="Oval 77"/>
          <p:cNvSpPr/>
          <p:nvPr/>
        </p:nvSpPr>
        <p:spPr>
          <a:xfrm>
            <a:off x="9418320" y="5980176"/>
            <a:ext cx="2606040" cy="47548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509760" y="60624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C55E"/>
                </a:solidFill>
              </a:rPr>
              <a:t>HK$105 – 152M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Family Financial Review  ·  June 2026  ·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09728"/>
            <a:ext cx="658368" cy="65836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65760" y="182880"/>
            <a:ext cx="3200400" cy="310896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05 · AI STACK COST vs HIRING HUMANS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This Is the Insight That Changes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C82FC"/>
                </a:solidFill>
              </a:rPr>
              <a:t>The original plan assumed large AI vendors and large teams. You need neither.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0299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AI STACK (Phase 2 full)</a:t>
            </a:r>
          </a:p>
        </p:txBody>
      </p:sp>
      <p:sp>
        <p:nvSpPr>
          <p:cNvPr id="9" name="Oval 8"/>
          <p:cNvSpPr/>
          <p:nvPr/>
        </p:nvSpPr>
        <p:spPr>
          <a:xfrm>
            <a:off x="320040" y="2423160"/>
            <a:ext cx="5577840" cy="53035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Make.com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514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0C8"/>
                </a:solidFill>
              </a:rPr>
              <a:t>Campaign workflow backbone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14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</a:rPr>
              <a:t>HK$70–125/mo</a:t>
            </a:r>
          </a:p>
        </p:txBody>
      </p:sp>
      <p:sp>
        <p:nvSpPr>
          <p:cNvPr id="13" name="Oval 12"/>
          <p:cNvSpPr/>
          <p:nvPr/>
        </p:nvSpPr>
        <p:spPr>
          <a:xfrm>
            <a:off x="320040" y="3026664"/>
            <a:ext cx="5577840" cy="53035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181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Tidio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181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0C8"/>
                </a:solidFill>
              </a:rPr>
              <a:t>Brand &amp; influencer support 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1810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</a:rPr>
              <a:t>HK$225/mo</a:t>
            </a:r>
          </a:p>
        </p:txBody>
      </p:sp>
      <p:sp>
        <p:nvSpPr>
          <p:cNvPr id="17" name="Oval 16"/>
          <p:cNvSpPr/>
          <p:nvPr/>
        </p:nvSpPr>
        <p:spPr>
          <a:xfrm>
            <a:off x="320040" y="3630168"/>
            <a:ext cx="5577840" cy="53035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216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Klaviyo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216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0C8"/>
                </a:solidFill>
              </a:rPr>
              <a:t>Email onboarding &amp; renewal 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2160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</a:rPr>
              <a:t>Free → HK$155/mo</a:t>
            </a:r>
          </a:p>
        </p:txBody>
      </p:sp>
      <p:sp>
        <p:nvSpPr>
          <p:cNvPr id="21" name="Oval 20"/>
          <p:cNvSpPr/>
          <p:nvPr/>
        </p:nvSpPr>
        <p:spPr>
          <a:xfrm>
            <a:off x="320040" y="4233672"/>
            <a:ext cx="5577840" cy="53035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2511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Logie.ai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3251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0C8"/>
                </a:solidFill>
              </a:rPr>
              <a:t>Full campaign lifecycle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32511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</a:rPr>
              <a:t>HK$1,550–3,100/mo</a:t>
            </a:r>
          </a:p>
        </p:txBody>
      </p:sp>
      <p:sp>
        <p:nvSpPr>
          <p:cNvPr id="25" name="Oval 24"/>
          <p:cNvSpPr/>
          <p:nvPr/>
        </p:nvSpPr>
        <p:spPr>
          <a:xfrm>
            <a:off x="320040" y="4837176"/>
            <a:ext cx="5577840" cy="53035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2861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Modash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9286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0C8"/>
                </a:solidFill>
              </a:rPr>
              <a:t>Content tracking &amp;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92861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</a:rPr>
              <a:t>HK$2,325/mo</a:t>
            </a:r>
          </a:p>
        </p:txBody>
      </p:sp>
      <p:sp>
        <p:nvSpPr>
          <p:cNvPr id="29" name="Oval 28"/>
          <p:cNvSpPr/>
          <p:nvPr/>
        </p:nvSpPr>
        <p:spPr>
          <a:xfrm>
            <a:off x="320040" y="5440680"/>
            <a:ext cx="5577840" cy="53035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5321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HypeAuditor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532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0C8"/>
                </a:solidFill>
              </a:rPr>
              <a:t>Influencer fraud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5321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</a:rPr>
              <a:t>HK$3,100/mo</a:t>
            </a:r>
          </a:p>
        </p:txBody>
      </p:sp>
      <p:sp>
        <p:nvSpPr>
          <p:cNvPr id="33" name="Oval 32"/>
          <p:cNvSpPr/>
          <p:nvPr/>
        </p:nvSpPr>
        <p:spPr>
          <a:xfrm>
            <a:off x="320040" y="6144768"/>
            <a:ext cx="557784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1813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0D1A"/>
                </a:solidFill>
              </a:rPr>
              <a:t>TOTAL: HK$7,375/mo full  ·  HK$295/mo Phase 1 start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029968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D4D"/>
                </a:solidFill>
              </a:rPr>
              <a:t>HUMAN EQUIVALENT (What AI replaces)</a:t>
            </a:r>
          </a:p>
        </p:txBody>
      </p:sp>
      <p:sp>
        <p:nvSpPr>
          <p:cNvPr id="36" name="Oval 35"/>
          <p:cNvSpPr/>
          <p:nvPr/>
        </p:nvSpPr>
        <p:spPr>
          <a:xfrm>
            <a:off x="6172200" y="2423160"/>
            <a:ext cx="5715000" cy="53035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5146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D4D"/>
                </a:solidFill>
              </a:rPr>
              <a:t>Campaign Manager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5146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0C8"/>
                </a:solidFill>
              </a:rPr>
              <a:t>Campaign workflow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2514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</a:rPr>
              <a:t>HK$25,000/mo</a:t>
            </a:r>
          </a:p>
        </p:txBody>
      </p:sp>
      <p:sp>
        <p:nvSpPr>
          <p:cNvPr id="40" name="Oval 39"/>
          <p:cNvSpPr/>
          <p:nvPr/>
        </p:nvSpPr>
        <p:spPr>
          <a:xfrm>
            <a:off x="6172200" y="3026664"/>
            <a:ext cx="5715000" cy="53035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118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D4D"/>
                </a:solidFill>
              </a:rPr>
              <a:t>Community Manager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1181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0C8"/>
                </a:solidFill>
              </a:rPr>
              <a:t>Creator queries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311810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</a:rPr>
              <a:t>HK$20,000/mo</a:t>
            </a:r>
          </a:p>
        </p:txBody>
      </p:sp>
      <p:sp>
        <p:nvSpPr>
          <p:cNvPr id="44" name="Oval 43"/>
          <p:cNvSpPr/>
          <p:nvPr/>
        </p:nvSpPr>
        <p:spPr>
          <a:xfrm>
            <a:off x="6172200" y="3630168"/>
            <a:ext cx="5715000" cy="53035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7216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D4D"/>
                </a:solidFill>
              </a:rPr>
              <a:t>Email / CRM Manager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37216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0C8"/>
                </a:solidFill>
              </a:rPr>
              <a:t>Onboarding sequences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372160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</a:rPr>
              <a:t>HK$18,000/mo</a:t>
            </a:r>
          </a:p>
        </p:txBody>
      </p:sp>
      <p:sp>
        <p:nvSpPr>
          <p:cNvPr id="48" name="Oval 47"/>
          <p:cNvSpPr/>
          <p:nvPr/>
        </p:nvSpPr>
        <p:spPr>
          <a:xfrm>
            <a:off x="6172200" y="4233672"/>
            <a:ext cx="5715000" cy="53035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43251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D4D"/>
                </a:solidFill>
              </a:rPr>
              <a:t>Ops Coordinator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3251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0C8"/>
                </a:solidFill>
              </a:rPr>
              <a:t>Content tracking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432511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</a:rPr>
              <a:t>HK$18,000/mo</a:t>
            </a:r>
          </a:p>
        </p:txBody>
      </p:sp>
      <p:sp>
        <p:nvSpPr>
          <p:cNvPr id="52" name="Oval 51"/>
          <p:cNvSpPr/>
          <p:nvPr/>
        </p:nvSpPr>
        <p:spPr>
          <a:xfrm>
            <a:off x="6172200" y="4837176"/>
            <a:ext cx="5715000" cy="53035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49286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D4D"/>
                </a:solidFill>
              </a:rPr>
              <a:t>Data Analyst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49286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0C8"/>
                </a:solidFill>
              </a:rPr>
              <a:t>Creator performance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492861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</a:rPr>
              <a:t>HK$22,000/mo</a:t>
            </a:r>
          </a:p>
        </p:txBody>
      </p:sp>
      <p:sp>
        <p:nvSpPr>
          <p:cNvPr id="56" name="Oval 55"/>
          <p:cNvSpPr/>
          <p:nvPr/>
        </p:nvSpPr>
        <p:spPr>
          <a:xfrm>
            <a:off x="6172200" y="5440680"/>
            <a:ext cx="5715000" cy="53035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55321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D4D"/>
                </a:solidFill>
              </a:rPr>
              <a:t>QA / Fraud Checker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55321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0C8"/>
                </a:solidFill>
              </a:rPr>
              <a:t>Influencer vetting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55321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</a:rPr>
              <a:t>HK$20,000/mo</a:t>
            </a:r>
          </a:p>
        </p:txBody>
      </p:sp>
      <p:sp>
        <p:nvSpPr>
          <p:cNvPr id="60" name="Oval 59"/>
          <p:cNvSpPr/>
          <p:nvPr/>
        </p:nvSpPr>
        <p:spPr>
          <a:xfrm>
            <a:off x="6172200" y="6144768"/>
            <a:ext cx="5715000" cy="41148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61813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TOTAL: HK$123,000/mo  ·  HK$1,476,000/year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Family Financial Review  ·  June 2026  ·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09728"/>
            <a:ext cx="658368" cy="65836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65760" y="182880"/>
            <a:ext cx="3200400" cy="310896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06 · TRY TOGETHER — KIERAN'S HERO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C518"/>
                </a:solidFill>
              </a:rPr>
              <a:t>The Feature That Makes SIMPLEX-ITY Unforgettable.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Logged as SEED-006. The family's unanimous verdict: this is the investor headline.</a:t>
            </a:r>
          </a:p>
        </p:txBody>
      </p:sp>
      <p:sp>
        <p:nvSpPr>
          <p:cNvPr id="8" name="Oval 7"/>
          <p:cNvSpPr/>
          <p:nvPr/>
        </p:nvSpPr>
        <p:spPr>
          <a:xfrm>
            <a:off x="320040" y="2103120"/>
            <a:ext cx="2212848" cy="260604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103120"/>
            <a:ext cx="2212848" cy="59436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12848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E50FB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5176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5E50FB"/>
                </a:solidFill>
              </a:rPr>
              <a:t>INFLUENCER
GOES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64992"/>
            <a:ext cx="2029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0B0C8"/>
                </a:solidFill>
              </a:rPr>
              <a:t>Streams beauty content
with product in hand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176" y="306324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5E50FB"/>
                </a:solidFill>
              </a:rPr>
              <a:t>›</a:t>
            </a:r>
          </a:p>
        </p:txBody>
      </p:sp>
      <p:sp>
        <p:nvSpPr>
          <p:cNvPr id="14" name="Oval 13"/>
          <p:cNvSpPr/>
          <p:nvPr/>
        </p:nvSpPr>
        <p:spPr>
          <a:xfrm>
            <a:off x="2679192" y="2103120"/>
            <a:ext cx="2212848" cy="260604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8C8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79192" y="2103120"/>
            <a:ext cx="2212848" cy="59436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0632" y="2212848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C82FC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265176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8C82FC"/>
                </a:solidFill>
              </a:rPr>
              <a:t>FAN OPENS
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3364992"/>
            <a:ext cx="2029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0B0C8"/>
                </a:solidFill>
              </a:rPr>
              <a:t>Selects influencer look
from the live feed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06324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C82FC"/>
                </a:solidFill>
              </a:rPr>
              <a:t>›</a:t>
            </a:r>
          </a:p>
        </p:txBody>
      </p:sp>
      <p:sp>
        <p:nvSpPr>
          <p:cNvPr id="20" name="Oval 19"/>
          <p:cNvSpPr/>
          <p:nvPr/>
        </p:nvSpPr>
        <p:spPr>
          <a:xfrm>
            <a:off x="5038344" y="2103120"/>
            <a:ext cx="2212848" cy="260604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38344" y="2103120"/>
            <a:ext cx="2212848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9784" y="2212848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C518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65176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5C518"/>
                </a:solidFill>
              </a:rPr>
              <a:t>TINT AI
ACTIVATES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364992"/>
            <a:ext cx="2029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0B0C8"/>
                </a:solidFill>
              </a:rPr>
              <a:t>Fan tries on the EXACT
same product —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06324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F5C518"/>
                </a:solidFill>
              </a:rPr>
              <a:t>›</a:t>
            </a:r>
          </a:p>
        </p:txBody>
      </p:sp>
      <p:sp>
        <p:nvSpPr>
          <p:cNvPr id="26" name="Oval 25"/>
          <p:cNvSpPr/>
          <p:nvPr/>
        </p:nvSpPr>
        <p:spPr>
          <a:xfrm>
            <a:off x="7397496" y="2103120"/>
            <a:ext cx="2212848" cy="260604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97496" y="2103120"/>
            <a:ext cx="2212848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2212848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C55E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265176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2C55E"/>
                </a:solidFill>
              </a:rPr>
              <a:t>SCREENSHOT
&amp; 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3364992"/>
            <a:ext cx="2029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0B0C8"/>
                </a:solidFill>
              </a:rPr>
              <a:t>Side-by-side with influencer
Shared = earned media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306324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2C55E"/>
                </a:solidFill>
              </a:rPr>
              <a:t>›</a:t>
            </a:r>
          </a:p>
        </p:txBody>
      </p:sp>
      <p:sp>
        <p:nvSpPr>
          <p:cNvPr id="32" name="Oval 31"/>
          <p:cNvSpPr/>
          <p:nvPr/>
        </p:nvSpPr>
        <p:spPr>
          <a:xfrm>
            <a:off x="9756648" y="2103120"/>
            <a:ext cx="2212848" cy="260604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56648" y="2103120"/>
            <a:ext cx="2212848" cy="59436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48088" y="2212848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E50FB"/>
                </a:solidFill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088" y="265176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5E50FB"/>
                </a:solidFill>
              </a:rPr>
              <a:t>DIRECT
PURCHASE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8088" y="3364992"/>
            <a:ext cx="2029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0B0C8"/>
                </a:solidFill>
              </a:rPr>
              <a:t>Fan buys instantly
via Vybd storefront</a:t>
            </a:r>
          </a:p>
        </p:txBody>
      </p:sp>
      <p:sp>
        <p:nvSpPr>
          <p:cNvPr id="37" name="Oval 36"/>
          <p:cNvSpPr/>
          <p:nvPr/>
        </p:nvSpPr>
        <p:spPr>
          <a:xfrm>
            <a:off x="320040" y="4828032"/>
            <a:ext cx="11567160" cy="1417320"/>
          </a:xfrm>
          <a:prstGeom prst="ellipse">
            <a:avLst/>
          </a:prstGeom>
          <a:solidFill>
            <a:srgbClr val="1E1A40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9194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</a:rPr>
              <a:t>Why This Is Worth More Than Any Feature List: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32180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Every fan screenshot = earned media. Zero ad spend. Viral by design.
No platform on earth — LTK, TikTok Shop, Amazon — offers verified Asian beauty live try-on with fan participation side-by-side.
This is SIMPLEX-ITY's signature moment. Protect it. Patent it. Lead the pitch with 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Family Financial Review  ·  June 2026  ·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09728"/>
            <a:ext cx="658368" cy="65836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65760" y="182880"/>
            <a:ext cx="3200400" cy="310896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07 · REVISED CAPITAL RAISE — FAMILY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HK$2M – HK$3.5M. Not HK$10M.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C82FC"/>
                </a:solidFill>
              </a:rPr>
              <a:t>Same ambition. 65% less risk. Faster to prove. Better story for investors.</a:t>
            </a:r>
          </a:p>
        </p:txBody>
      </p:sp>
      <p:sp>
        <p:nvSpPr>
          <p:cNvPr id="8" name="Oval 7"/>
          <p:cNvSpPr/>
          <p:nvPr/>
        </p:nvSpPr>
        <p:spPr>
          <a:xfrm>
            <a:off x="320040" y="2212848"/>
            <a:ext cx="2432304" cy="566928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4086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1A"/>
                </a:solidFill>
              </a:rPr>
              <a:t>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9504" y="2249424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E50FB"/>
                </a:solidFill>
              </a:rPr>
              <a:t>Creator Acquisition &amp; Campaign Seeding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23408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HK$760K – 1.33M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" y="3054096"/>
            <a:ext cx="1600200" cy="566928"/>
          </a:xfrm>
          <a:prstGeom prst="ellipse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8211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1A"/>
                </a:solidFill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090672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C82FC"/>
                </a:solidFill>
              </a:rPr>
              <a:t>Technology &amp; AI Stack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1821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HK$500K – 875K</a:t>
            </a:r>
          </a:p>
        </p:txBody>
      </p:sp>
      <p:sp>
        <p:nvSpPr>
          <p:cNvPr id="16" name="Oval 15"/>
          <p:cNvSpPr/>
          <p:nvPr/>
        </p:nvSpPr>
        <p:spPr>
          <a:xfrm>
            <a:off x="320040" y="3895344"/>
            <a:ext cx="1280160" cy="5669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1A"/>
                </a:solidFill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931920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C55E"/>
                </a:solidFill>
              </a:rPr>
              <a:t>Brand Sales &amp; Influencer Onboarding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40233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HK$400K – 700K</a:t>
            </a:r>
          </a:p>
        </p:txBody>
      </p:sp>
      <p:sp>
        <p:nvSpPr>
          <p:cNvPr id="20" name="Oval 19"/>
          <p:cNvSpPr/>
          <p:nvPr/>
        </p:nvSpPr>
        <p:spPr>
          <a:xfrm>
            <a:off x="320040" y="4736592"/>
            <a:ext cx="640080" cy="56692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6460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1A"/>
                </a:solidFill>
              </a:rP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73168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18"/>
                </a:solidFill>
              </a:rPr>
              <a:t>Legal, US Entity &amp; IP Protection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48646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HK$200K – 350K</a:t>
            </a:r>
          </a:p>
        </p:txBody>
      </p:sp>
      <p:sp>
        <p:nvSpPr>
          <p:cNvPr id="24" name="Oval 23"/>
          <p:cNvSpPr/>
          <p:nvPr/>
        </p:nvSpPr>
        <p:spPr>
          <a:xfrm>
            <a:off x="320040" y="5577840"/>
            <a:ext cx="448056" cy="566928"/>
          </a:xfrm>
          <a:prstGeom prst="ellipse">
            <a:avLst/>
          </a:prstGeom>
          <a:solidFill>
            <a:srgbClr val="B0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70585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 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61441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0C8"/>
                </a:solidFill>
              </a:rPr>
              <a:t>Operating Reserve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57058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</a:rPr>
              <a:t>HK$140K – 245K</a:t>
            </a:r>
          </a:p>
        </p:txBody>
      </p:sp>
      <p:sp>
        <p:nvSpPr>
          <p:cNvPr id="28" name="Oval 27"/>
          <p:cNvSpPr/>
          <p:nvPr/>
        </p:nvSpPr>
        <p:spPr>
          <a:xfrm>
            <a:off x="320040" y="6400800"/>
            <a:ext cx="11567160" cy="32004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2823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TOTAL: HK$2,000,000 – HK$3,500,000  ·  Equity or Convertible Note  ·  Target 8–12x return Year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Family Financial Review  ·  June 2026  ·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IS_logo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09728"/>
            <a:ext cx="658368" cy="65836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65760" y="182880"/>
            <a:ext cx="3200400" cy="310896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08 · WHAT KIERAN OWNS vs WHAT AI OWNS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Lean Founder Model. You Scale Without Burning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C82FC"/>
                </a:solidFill>
              </a:rPr>
              <a:t>You don't need to do everything. You need to do the right things.</a:t>
            </a:r>
          </a:p>
        </p:txBody>
      </p:sp>
      <p:sp>
        <p:nvSpPr>
          <p:cNvPr id="8" name="Oval 7"/>
          <p:cNvSpPr/>
          <p:nvPr/>
        </p:nvSpPr>
        <p:spPr>
          <a:xfrm>
            <a:off x="320040" y="2029968"/>
            <a:ext cx="5577840" cy="384048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66543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KIERAN OWNS — Strategy, Vision, Relationships</a:t>
            </a:r>
          </a:p>
        </p:txBody>
      </p:sp>
      <p:sp>
        <p:nvSpPr>
          <p:cNvPr id="10" name="Oval 9"/>
          <p:cNvSpPr/>
          <p:nvPr/>
        </p:nvSpPr>
        <p:spPr>
          <a:xfrm>
            <a:off x="320040" y="2487168"/>
            <a:ext cx="5577840" cy="493776"/>
          </a:xfrm>
          <a:prstGeom prst="ellipse">
            <a:avLst/>
          </a:prstGeom>
          <a:solidFill>
            <a:srgbClr val="1E1A40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69464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✦ Business strategy &amp; platform direction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" y="3035808"/>
            <a:ext cx="5577840" cy="493776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18104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✦ Investor relations (NEST VC, StartmeUp HK, seed)</a:t>
            </a:r>
          </a:p>
        </p:txBody>
      </p:sp>
      <p:sp>
        <p:nvSpPr>
          <p:cNvPr id="14" name="Oval 13"/>
          <p:cNvSpPr/>
          <p:nvPr/>
        </p:nvSpPr>
        <p:spPr>
          <a:xfrm>
            <a:off x="320040" y="3584448"/>
            <a:ext cx="5577840" cy="493776"/>
          </a:xfrm>
          <a:prstGeom prst="ellipse">
            <a:avLst/>
          </a:prstGeom>
          <a:solidFill>
            <a:srgbClr val="1E1A40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66744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✦ Vendor partnerships (Banuba, Vybd, new tech)</a:t>
            </a:r>
          </a:p>
        </p:txBody>
      </p:sp>
      <p:sp>
        <p:nvSpPr>
          <p:cNvPr id="16" name="Oval 15"/>
          <p:cNvSpPr/>
          <p:nvPr/>
        </p:nvSpPr>
        <p:spPr>
          <a:xfrm>
            <a:off x="320040" y="4133087"/>
            <a:ext cx="5577840" cy="493776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15383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✦ Enterprise brand onboarding — top 5% needing a human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" y="4681728"/>
            <a:ext cx="5577840" cy="493776"/>
          </a:xfrm>
          <a:prstGeom prst="ellipse">
            <a:avLst/>
          </a:prstGeom>
          <a:solidFill>
            <a:srgbClr val="1E1A40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64024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✦ Top 20 influencer relationships — loyalty layer</a:t>
            </a:r>
          </a:p>
        </p:txBody>
      </p:sp>
      <p:sp>
        <p:nvSpPr>
          <p:cNvPr id="20" name="Oval 19"/>
          <p:cNvSpPr/>
          <p:nvPr/>
        </p:nvSpPr>
        <p:spPr>
          <a:xfrm>
            <a:off x="320040" y="5230368"/>
            <a:ext cx="5577840" cy="493776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12664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✦ Team leadership (Loreen, Ally, Wilson)</a:t>
            </a:r>
          </a:p>
        </p:txBody>
      </p:sp>
      <p:sp>
        <p:nvSpPr>
          <p:cNvPr id="22" name="Oval 21"/>
          <p:cNvSpPr/>
          <p:nvPr/>
        </p:nvSpPr>
        <p:spPr>
          <a:xfrm>
            <a:off x="320040" y="5779008"/>
            <a:ext cx="5577840" cy="493776"/>
          </a:xfrm>
          <a:prstGeom prst="ellipse">
            <a:avLst/>
          </a:prstGeom>
          <a:solidFill>
            <a:srgbClr val="1E1A40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861304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✦ TRY TOGETHER — pitching &amp; protecting the idea</a:t>
            </a:r>
          </a:p>
        </p:txBody>
      </p:sp>
      <p:sp>
        <p:nvSpPr>
          <p:cNvPr id="24" name="Oval 23"/>
          <p:cNvSpPr/>
          <p:nvPr/>
        </p:nvSpPr>
        <p:spPr>
          <a:xfrm>
            <a:off x="6291072" y="2029968"/>
            <a:ext cx="5577840" cy="38404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2066543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0D1A"/>
                </a:solidFill>
              </a:rPr>
              <a:t>AI STACK OWNS — Operations, Automation, 24/7</a:t>
            </a:r>
          </a:p>
        </p:txBody>
      </p:sp>
      <p:sp>
        <p:nvSpPr>
          <p:cNvPr id="26" name="Oval 25"/>
          <p:cNvSpPr/>
          <p:nvPr/>
        </p:nvSpPr>
        <p:spPr>
          <a:xfrm>
            <a:off x="6291072" y="2487168"/>
            <a:ext cx="5577840" cy="493776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2569464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✅ Campaign scheduling &amp; calendar blocking (Make.com)</a:t>
            </a:r>
          </a:p>
        </p:txBody>
      </p:sp>
      <p:sp>
        <p:nvSpPr>
          <p:cNvPr id="28" name="Oval 27"/>
          <p:cNvSpPr/>
          <p:nvPr/>
        </p:nvSpPr>
        <p:spPr>
          <a:xfrm>
            <a:off x="6291072" y="3035808"/>
            <a:ext cx="5577840" cy="493776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3118104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✅ Brand &amp; influencer support 24/7 (Tidio)</a:t>
            </a:r>
          </a:p>
        </p:txBody>
      </p:sp>
      <p:sp>
        <p:nvSpPr>
          <p:cNvPr id="30" name="Oval 29"/>
          <p:cNvSpPr/>
          <p:nvPr/>
        </p:nvSpPr>
        <p:spPr>
          <a:xfrm>
            <a:off x="6291072" y="3584448"/>
            <a:ext cx="5577840" cy="493776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3666744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✅ Onboarding email sequences &amp; renewals (Klaviyo)</a:t>
            </a:r>
          </a:p>
        </p:txBody>
      </p:sp>
      <p:sp>
        <p:nvSpPr>
          <p:cNvPr id="32" name="Oval 31"/>
          <p:cNvSpPr/>
          <p:nvPr/>
        </p:nvSpPr>
        <p:spPr>
          <a:xfrm>
            <a:off x="6291072" y="4133087"/>
            <a:ext cx="5577840" cy="493776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4215383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✅ Creator matching by reliability score (Logie + HypeAuditor)</a:t>
            </a:r>
          </a:p>
        </p:txBody>
      </p:sp>
      <p:sp>
        <p:nvSpPr>
          <p:cNvPr id="34" name="Oval 33"/>
          <p:cNvSpPr/>
          <p:nvPr/>
        </p:nvSpPr>
        <p:spPr>
          <a:xfrm>
            <a:off x="6291072" y="4681728"/>
            <a:ext cx="5577840" cy="493776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4764024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✅ Content delivery tracking (Modash)</a:t>
            </a:r>
          </a:p>
        </p:txBody>
      </p:sp>
      <p:sp>
        <p:nvSpPr>
          <p:cNvPr id="36" name="Oval 35"/>
          <p:cNvSpPr/>
          <p:nvPr/>
        </p:nvSpPr>
        <p:spPr>
          <a:xfrm>
            <a:off x="6291072" y="5230368"/>
            <a:ext cx="5577840" cy="493776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5312664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✅ Campaign reporting &amp; payout triggers (Logie.ai)</a:t>
            </a:r>
          </a:p>
        </p:txBody>
      </p:sp>
      <p:sp>
        <p:nvSpPr>
          <p:cNvPr id="38" name="Oval 37"/>
          <p:cNvSpPr/>
          <p:nvPr/>
        </p:nvSpPr>
        <p:spPr>
          <a:xfrm>
            <a:off x="6291072" y="5779008"/>
            <a:ext cx="5577840" cy="493776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5861304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✅ Everything routine — runs while Kieran sleeps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Family Financial Review  ·  June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