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5E50FB"/>
                </a:solidFill>
              </a:rPr>
              <a:t>SIMPLEX-ITY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14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The Omnichannel Gateway for Asian Beauty in North America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"Discover the undiscovered worlds of Asian secret beauty brands."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840480"/>
            <a:ext cx="457200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00507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B0C8"/>
                </a:solidFill>
              </a:rPr>
              <a:t>Investor Brief  ·  June 2026  ·  Hong Kong</a:t>
            </a:r>
          </a:p>
        </p:txBody>
      </p:sp>
      <p:sp>
        <p:nvSpPr>
          <p:cNvPr id="9" name="Oval 8"/>
          <p:cNvSpPr/>
          <p:nvPr/>
        </p:nvSpPr>
        <p:spPr>
          <a:xfrm>
            <a:off x="8961120" y="1097280"/>
            <a:ext cx="2926080" cy="148132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18872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E50FB"/>
                </a:solidFill>
              </a:rPr>
              <a:t>HK$2-3.5M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Capital Raise</a:t>
            </a:r>
          </a:p>
        </p:txBody>
      </p:sp>
      <p:sp>
        <p:nvSpPr>
          <p:cNvPr id="12" name="Oval 11"/>
          <p:cNvSpPr/>
          <p:nvPr/>
        </p:nvSpPr>
        <p:spPr>
          <a:xfrm>
            <a:off x="8961120" y="2788920"/>
            <a:ext cx="2926080" cy="148132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88036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</a:rPr>
              <a:t>15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703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Break-Even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0" y="4480560"/>
            <a:ext cx="2926080" cy="1481328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4572000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5C518"/>
                </a:solidFill>
              </a:rPr>
              <a:t>8-12x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394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0B0C8"/>
                </a:solidFill>
              </a:rPr>
              <a:t>Target ROI Yr3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01 ·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Asian Beauty Brands Are Invisible in North America.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The market exists. The demand is proven. The bridge doesn't.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05740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57400"/>
            <a:ext cx="5669280" cy="5943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4D4D"/>
                </a:solidFill>
              </a:rPr>
              <a:t>No Trusted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Asian brands have no single trusted destination to reach US/Canada beauty consumers at scale.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0" y="205740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5669280" cy="594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500"/>
                </a:solidFill>
              </a:rPr>
              <a:t>Technology Cost Barrier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2432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Enterprise AI tools (try-on, diagnostics) cost too much for individual brands to adopt alone.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" y="425196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566928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Influencer Income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1888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US/Canada beauty creators get irregular, unreliable sponsorship income — no loyalty, no consistency.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425196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251960"/>
            <a:ext cx="5669280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61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C82FC"/>
                </a:solidFill>
              </a:rPr>
              <a:t>No Consumer Discovery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1888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Western beauty consumers have no curated way to discover authentic Asian beauty brands with trust signals.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02 ·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SIMPLEX-ITY: One Platform. Three Connected Communities.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8132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Brands. Influencers. Consumers. All powered by AI. All on one platform.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05740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57400"/>
            <a:ext cx="5669280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For Brands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2432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Free AI tools (Tint AI try-on). Pay only 15% when a sale is made. Instant access to verified US/Canada creators. Campaign calendar + matching engine.</a:t>
            </a:r>
          </a:p>
        </p:txBody>
      </p:sp>
      <p:sp>
        <p:nvSpPr>
          <p:cNvPr id="11" name="Oval 10"/>
          <p:cNvSpPr/>
          <p:nvPr/>
        </p:nvSpPr>
        <p:spPr>
          <a:xfrm>
            <a:off x="6263640" y="205740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5669280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50FB"/>
                </a:solidFill>
              </a:rPr>
              <a:t>For Influencers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2432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Stable monthly income replacing irregular sponsorships. Tier-based progression. Personal shop with brand products. TRY TOGETHER live engagement.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" y="425196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251960"/>
            <a:ext cx="566928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361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For Consumers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1888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Guaranteed 30% off premium Asian beauty. Free TRY TOGETHER virtual try-on. Consumer membership with points and re-order subscriptions. QR code loyalty rewards.</a:t>
            </a:r>
          </a:p>
        </p:txBody>
      </p:sp>
      <p:sp>
        <p:nvSpPr>
          <p:cNvPr id="19" name="Oval 18"/>
          <p:cNvSpPr/>
          <p:nvPr/>
        </p:nvSpPr>
        <p:spPr>
          <a:xfrm>
            <a:off x="6263640" y="4251960"/>
            <a:ext cx="5669280" cy="20116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251960"/>
            <a:ext cx="5669280" cy="59436"/>
          </a:xfrm>
          <a:prstGeom prst="rect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61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B5"/>
                </a:solidFill>
              </a:rPr>
              <a:t>For Investors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18888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Asset-light model — 0% inventory risk. AI stack replaces HK$123K/mo in staff. 3 revenue streams. 15-month break-even. 8-12x Year 3 ROI target.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03 · TRY TOGETHER — THE HERO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C518"/>
                </a:solidFill>
              </a:rPr>
              <a:t>No Platform On Earth Does This.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 influencer try-on + fan participation + instant purchase. The viral loop built into the product.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103120"/>
            <a:ext cx="2212848" cy="26334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2212848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E50FB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5E50FB"/>
                </a:solidFill>
              </a:rPr>
              <a:t>INFLUENCER
GOES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Streams with product
in hand — fans watching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E50FB"/>
                </a:solidFill>
              </a:rPr>
              <a:t>›</a:t>
            </a:r>
          </a:p>
        </p:txBody>
      </p:sp>
      <p:sp>
        <p:nvSpPr>
          <p:cNvPr id="13" name="Oval 12"/>
          <p:cNvSpPr/>
          <p:nvPr/>
        </p:nvSpPr>
        <p:spPr>
          <a:xfrm>
            <a:off x="2679192" y="2103120"/>
            <a:ext cx="2212848" cy="26334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2103120"/>
            <a:ext cx="2212848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C82FC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8C82FC"/>
                </a:solidFill>
              </a:rPr>
              <a:t>FAN OPENS
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Selects influencer look
from the live feed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8C82FC"/>
                </a:solidFill>
              </a:rPr>
              <a:t>›</a:t>
            </a:r>
          </a:p>
        </p:txBody>
      </p:sp>
      <p:sp>
        <p:nvSpPr>
          <p:cNvPr id="19" name="Oval 18"/>
          <p:cNvSpPr/>
          <p:nvPr/>
        </p:nvSpPr>
        <p:spPr>
          <a:xfrm>
            <a:off x="5038344" y="2103120"/>
            <a:ext cx="2212848" cy="26334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4" y="2103120"/>
            <a:ext cx="2212848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518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5C518"/>
                </a:solidFill>
              </a:rPr>
              <a:t>TINT AI
ACTIVATES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Fan tries on the EXACT
same product — 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5C518"/>
                </a:solidFill>
              </a:rPr>
              <a:t>›</a:t>
            </a:r>
          </a:p>
        </p:txBody>
      </p:sp>
      <p:sp>
        <p:nvSpPr>
          <p:cNvPr id="25" name="Oval 24"/>
          <p:cNvSpPr/>
          <p:nvPr/>
        </p:nvSpPr>
        <p:spPr>
          <a:xfrm>
            <a:off x="7397496" y="2103120"/>
            <a:ext cx="2212848" cy="26334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97496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2C55E"/>
                </a:solidFill>
              </a:rPr>
              <a:t>SCREENSHOT
&amp;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Side-by-side photo shared
= earned media, zero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06324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2C55E"/>
                </a:solidFill>
              </a:rPr>
              <a:t>›</a:t>
            </a:r>
          </a:p>
        </p:txBody>
      </p:sp>
      <p:sp>
        <p:nvSpPr>
          <p:cNvPr id="31" name="Oval 30"/>
          <p:cNvSpPr/>
          <p:nvPr/>
        </p:nvSpPr>
        <p:spPr>
          <a:xfrm>
            <a:off x="9756648" y="2103120"/>
            <a:ext cx="2212848" cy="2633472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56648" y="2103120"/>
            <a:ext cx="2212848" cy="59436"/>
          </a:xfrm>
          <a:prstGeom prst="rect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48088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BB5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651760"/>
            <a:ext cx="20299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FF6BB5"/>
                </a:solidFill>
              </a:rPr>
              <a:t>DIRECT
PURCHASE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3364992"/>
            <a:ext cx="2029968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Fan buys instantly
30% off guaranteed</a:t>
            </a:r>
          </a:p>
        </p:txBody>
      </p:sp>
      <p:sp>
        <p:nvSpPr>
          <p:cNvPr id="36" name="Oval 35"/>
          <p:cNvSpPr/>
          <p:nvPr/>
        </p:nvSpPr>
        <p:spPr>
          <a:xfrm>
            <a:off x="320040" y="4846320"/>
            <a:ext cx="11567160" cy="530352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9560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Standard platform feature for all users. LIVE TRY TOGETHER (fan interaction during live streams) unlocked at Verified Creator tier and above.</a:t>
            </a:r>
          </a:p>
        </p:txBody>
      </p:sp>
      <p:sp>
        <p:nvSpPr>
          <p:cNvPr id="38" name="Oval 37"/>
          <p:cNvSpPr/>
          <p:nvPr/>
        </p:nvSpPr>
        <p:spPr>
          <a:xfrm>
            <a:off x="320040" y="5486400"/>
            <a:ext cx="11567160" cy="804672"/>
          </a:xfrm>
          <a:prstGeom prst="ellipse">
            <a:avLst/>
          </a:prstGeom>
          <a:solidFill>
            <a:srgbClr val="1A173A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595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Why This Wins:  Every screenshot a fan shares = earned media with zero ad spend.  LTK cannot do this.  TikTok Shop cannot do this.  Amazon cannot do this.
This is SIMPLEX-ITY's unfair advantage. Protect it. Patent it. Lead every investor conversation with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04 · AI INFLUENCER — ENTERPRISE EXCLUSIVE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Always-On Brand Ambassadors. Zero Scheduling. Zero Fees.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B0C8"/>
                </a:solidFill>
              </a:rPr>
              <a:t>Platform-generated AI influencer videos — exclusively for Enterprise brand members.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011680"/>
            <a:ext cx="7315200" cy="42062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11680"/>
            <a:ext cx="7315200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C82FC"/>
                </a:solidFill>
              </a:rPr>
              <a:t>What It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AI avatar presents brand product with scripted intro — no human influencer needed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Speaks in brand voice — tone, personality, and product knowledge baked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75887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Multilingual — English, Mandarin, Korean, Japanese on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97096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Produced in 24-48 hours — brands submit brief, AI delivers finished 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18303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2 AI influencer videos per quarter included in Enterprise membership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39511"/>
            <a:ext cx="6858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• Acts as contingency when real influencer supply is limited at launch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2011680"/>
            <a:ext cx="4069080" cy="420624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2011680"/>
            <a:ext cx="4069080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121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518"/>
                </a:solidFill>
              </a:rPr>
              <a:t>Demo Script (Live)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0604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"Hi! Welcome to Simplexity. This is the I'm From Rice Toner — your glow up in a bottle. With 77.78% yoju rice extract, it brightens, hydrates, and calms your skin like a dream. No fluff, no filters. Just dewy, glassy vibes. Vegan, clean, and TikTok approved. So let us simplify your routine and amplify your beauty — with Simplexity."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C518"/>
                </a:solidFill>
              </a:rPr>
              <a:t>↑ Kieran's actual AI influencer demo
Recorded June 2026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" y="6400800"/>
            <a:ext cx="11567160" cy="320040"/>
          </a:xfrm>
          <a:prstGeom prst="ellipse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D0D1A"/>
                </a:solidFill>
              </a:rPr>
              <a:t>Phase 1: Enterprise brand exclusive (demo only).  Phase 2: Full AI influencer marketplace launched to all brand tiers.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05 · QR CODE CONSUMER LOYALTY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Every Package Is a Return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A physical-to-digital flywheel that turns every shipment into a re-engagement moment.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103120"/>
            <a:ext cx="2212848" cy="29260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33472"/>
            <a:ext cx="2029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</a:rPr>
              <a:t>BRAND 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2029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Package includes
SIMPLEX-ITY QR sticker
(brand supplies)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320040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2C55E"/>
                </a:solidFill>
              </a:rPr>
              <a:t>›</a:t>
            </a:r>
          </a:p>
        </p:txBody>
      </p:sp>
      <p:sp>
        <p:nvSpPr>
          <p:cNvPr id="13" name="Oval 12"/>
          <p:cNvSpPr/>
          <p:nvPr/>
        </p:nvSpPr>
        <p:spPr>
          <a:xfrm>
            <a:off x="2679192" y="2103120"/>
            <a:ext cx="2212848" cy="29260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9192" y="2103120"/>
            <a:ext cx="2212848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518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633472"/>
            <a:ext cx="2029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518"/>
                </a:solidFill>
              </a:rPr>
              <a:t>CONSUMER SCANS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3200400"/>
            <a:ext cx="2029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Opens platform review
page — 30 sec to complete
No app download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20040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5C518"/>
                </a:solidFill>
              </a:rPr>
              <a:t>›</a:t>
            </a:r>
          </a:p>
        </p:txBody>
      </p:sp>
      <p:sp>
        <p:nvSpPr>
          <p:cNvPr id="19" name="Oval 18"/>
          <p:cNvSpPr/>
          <p:nvPr/>
        </p:nvSpPr>
        <p:spPr>
          <a:xfrm>
            <a:off x="5038344" y="2103120"/>
            <a:ext cx="2212848" cy="29260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344" y="2103120"/>
            <a:ext cx="2212848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4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E50FB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2633472"/>
            <a:ext cx="2029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50FB"/>
                </a:solidFill>
              </a:rPr>
              <a:t>LEAVES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3200400"/>
            <a:ext cx="2029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Star rating + photo
UGC content generated
automatically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20040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E50FB"/>
                </a:solidFill>
              </a:rPr>
              <a:t>›</a:t>
            </a:r>
          </a:p>
        </p:txBody>
      </p:sp>
      <p:sp>
        <p:nvSpPr>
          <p:cNvPr id="25" name="Oval 24"/>
          <p:cNvSpPr/>
          <p:nvPr/>
        </p:nvSpPr>
        <p:spPr>
          <a:xfrm>
            <a:off x="7397496" y="2103120"/>
            <a:ext cx="2212848" cy="29260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97496" y="2103120"/>
            <a:ext cx="2212848" cy="59436"/>
          </a:xfrm>
          <a:prstGeom prst="rect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88936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6BB5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2633472"/>
            <a:ext cx="2029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6BB5"/>
                </a:solidFill>
              </a:rPr>
              <a:t>EARNS REWARD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200400"/>
            <a:ext cx="2029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10% discount on
next order — instant
to consumer 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3200400"/>
            <a:ext cx="1280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FF6BB5"/>
                </a:solidFill>
              </a:rPr>
              <a:t>›</a:t>
            </a:r>
          </a:p>
        </p:txBody>
      </p:sp>
      <p:sp>
        <p:nvSpPr>
          <p:cNvPr id="31" name="Oval 30"/>
          <p:cNvSpPr/>
          <p:nvPr/>
        </p:nvSpPr>
        <p:spPr>
          <a:xfrm>
            <a:off x="9756648" y="2103120"/>
            <a:ext cx="2212848" cy="292608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56648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48088" y="2194560"/>
            <a:ext cx="2029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633472"/>
            <a:ext cx="2029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2C55E"/>
                </a:solidFill>
              </a:rPr>
              <a:t>RE-ORDERS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48088" y="3200400"/>
            <a:ext cx="20299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B0B0C8"/>
                </a:solidFill>
              </a:rPr>
              <a:t>Returns to platform
to redeem — GMV
grows organically</a:t>
            </a:r>
          </a:p>
        </p:txBody>
      </p:sp>
      <p:sp>
        <p:nvSpPr>
          <p:cNvPr id="36" name="Oval 35"/>
          <p:cNvSpPr/>
          <p:nvPr/>
        </p:nvSpPr>
        <p:spPr>
          <a:xfrm>
            <a:off x="320040" y="5166360"/>
            <a:ext cx="11567160" cy="109728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2578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</a:rPr>
              <a:t>Why This Matters for Investors: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6509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Cost: Near zero (QR stickers supplied by brands).  Value: Every review = UGC content + loyalty data + re-purchase trigger.
Investor concern #1 is always churn. This is the answer. Every package fights churn automatically.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06 · COMPETITIVE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We Don't Compete With Amazon. We Beat It Where It Hurts.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Asset-light + AI-powered + niche-focused = a moat none of them can replicate.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65960"/>
            <a:ext cx="2606040" cy="50292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0B0C8"/>
                </a:solidFill>
              </a:rPr>
              <a:t>FEATURE</a:t>
            </a:r>
          </a:p>
        </p:txBody>
      </p:sp>
      <p:sp>
        <p:nvSpPr>
          <p:cNvPr id="9" name="Oval 8"/>
          <p:cNvSpPr/>
          <p:nvPr/>
        </p:nvSpPr>
        <p:spPr>
          <a:xfrm>
            <a:off x="3063240" y="1965960"/>
            <a:ext cx="2331720" cy="5029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993392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Amazon /
TikTok Shop</a:t>
            </a:r>
          </a:p>
        </p:txBody>
      </p:sp>
      <p:sp>
        <p:nvSpPr>
          <p:cNvPr id="11" name="Oval 10"/>
          <p:cNvSpPr/>
          <p:nvPr/>
        </p:nvSpPr>
        <p:spPr>
          <a:xfrm>
            <a:off x="5532120" y="1965960"/>
            <a:ext cx="2331720" cy="5029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993392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LTK /
ShopMy</a:t>
            </a:r>
          </a:p>
        </p:txBody>
      </p:sp>
      <p:sp>
        <p:nvSpPr>
          <p:cNvPr id="13" name="Oval 12"/>
          <p:cNvSpPr/>
          <p:nvPr/>
        </p:nvSpPr>
        <p:spPr>
          <a:xfrm>
            <a:off x="8001000" y="1965960"/>
            <a:ext cx="21031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993392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YOUR
PLATFORM</a:t>
            </a:r>
          </a:p>
        </p:txBody>
      </p:sp>
      <p:sp>
        <p:nvSpPr>
          <p:cNvPr id="15" name="Oval 14"/>
          <p:cNvSpPr/>
          <p:nvPr/>
        </p:nvSpPr>
        <p:spPr>
          <a:xfrm>
            <a:off x="10241280" y="1965960"/>
            <a:ext cx="1828800" cy="5029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0" y="1993392"/>
            <a:ext cx="1828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ADVANTAGE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2542032"/>
            <a:ext cx="260604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" y="2624328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Inventory Risk</a:t>
            </a:r>
          </a:p>
        </p:txBody>
      </p:sp>
      <p:sp>
        <p:nvSpPr>
          <p:cNvPr id="19" name="Oval 18"/>
          <p:cNvSpPr/>
          <p:nvPr/>
        </p:nvSpPr>
        <p:spPr>
          <a:xfrm>
            <a:off x="3063240" y="2542032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6392" y="2624328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Heavy FBA</a:t>
            </a:r>
          </a:p>
        </p:txBody>
      </p:sp>
      <p:sp>
        <p:nvSpPr>
          <p:cNvPr id="21" name="Oval 20"/>
          <p:cNvSpPr/>
          <p:nvPr/>
        </p:nvSpPr>
        <p:spPr>
          <a:xfrm>
            <a:off x="5532120" y="2542032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05272" y="2624328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23" name="Oval 22"/>
          <p:cNvSpPr/>
          <p:nvPr/>
        </p:nvSpPr>
        <p:spPr>
          <a:xfrm>
            <a:off x="8001000" y="2542032"/>
            <a:ext cx="2103120" cy="45720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4152" y="2624328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0% — Zero</a:t>
            </a:r>
          </a:p>
        </p:txBody>
      </p:sp>
      <p:sp>
        <p:nvSpPr>
          <p:cNvPr id="25" name="Oval 24"/>
          <p:cNvSpPr/>
          <p:nvPr/>
        </p:nvSpPr>
        <p:spPr>
          <a:xfrm>
            <a:off x="10241280" y="2542032"/>
            <a:ext cx="182880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14432" y="2624328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Asset-light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3035808"/>
            <a:ext cx="260604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" y="3118104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Platform Fee</a:t>
            </a:r>
          </a:p>
        </p:txBody>
      </p:sp>
      <p:sp>
        <p:nvSpPr>
          <p:cNvPr id="29" name="Oval 28"/>
          <p:cNvSpPr/>
          <p:nvPr/>
        </p:nvSpPr>
        <p:spPr>
          <a:xfrm>
            <a:off x="3063240" y="3035808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36392" y="3118104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&gt;30% hidden</a:t>
            </a:r>
          </a:p>
        </p:txBody>
      </p:sp>
      <p:sp>
        <p:nvSpPr>
          <p:cNvPr id="31" name="Oval 30"/>
          <p:cNvSpPr/>
          <p:nvPr/>
        </p:nvSpPr>
        <p:spPr>
          <a:xfrm>
            <a:off x="5532120" y="3035808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118104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Up to 20%</a:t>
            </a:r>
          </a:p>
        </p:txBody>
      </p:sp>
      <p:sp>
        <p:nvSpPr>
          <p:cNvPr id="33" name="Oval 32"/>
          <p:cNvSpPr/>
          <p:nvPr/>
        </p:nvSpPr>
        <p:spPr>
          <a:xfrm>
            <a:off x="8001000" y="3035808"/>
            <a:ext cx="2103120" cy="4572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3118104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15% flat</a:t>
            </a:r>
          </a:p>
        </p:txBody>
      </p:sp>
      <p:sp>
        <p:nvSpPr>
          <p:cNvPr id="35" name="Oval 34"/>
          <p:cNvSpPr/>
          <p:nvPr/>
        </p:nvSpPr>
        <p:spPr>
          <a:xfrm>
            <a:off x="10241280" y="3035808"/>
            <a:ext cx="182880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14432" y="3118104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Lowest</a:t>
            </a:r>
          </a:p>
        </p:txBody>
      </p:sp>
      <p:sp>
        <p:nvSpPr>
          <p:cNvPr id="37" name="Oval 36"/>
          <p:cNvSpPr/>
          <p:nvPr/>
        </p:nvSpPr>
        <p:spPr>
          <a:xfrm>
            <a:off x="320040" y="3529584"/>
            <a:ext cx="260604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3611880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Consumer Price</a:t>
            </a:r>
          </a:p>
        </p:txBody>
      </p:sp>
      <p:sp>
        <p:nvSpPr>
          <p:cNvPr id="39" name="Oval 38"/>
          <p:cNvSpPr/>
          <p:nvPr/>
        </p:nvSpPr>
        <p:spPr>
          <a:xfrm>
            <a:off x="3063240" y="3529584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36392" y="3611880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Full retail</a:t>
            </a:r>
          </a:p>
        </p:txBody>
      </p:sp>
      <p:sp>
        <p:nvSpPr>
          <p:cNvPr id="41" name="Oval 40"/>
          <p:cNvSpPr/>
          <p:nvPr/>
        </p:nvSpPr>
        <p:spPr>
          <a:xfrm>
            <a:off x="5532120" y="3529584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5272" y="3611880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Full retail</a:t>
            </a:r>
          </a:p>
        </p:txBody>
      </p:sp>
      <p:sp>
        <p:nvSpPr>
          <p:cNvPr id="43" name="Oval 42"/>
          <p:cNvSpPr/>
          <p:nvPr/>
        </p:nvSpPr>
        <p:spPr>
          <a:xfrm>
            <a:off x="8001000" y="3529584"/>
            <a:ext cx="2103120" cy="45720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4152" y="3611880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30% guaranteed</a:t>
            </a:r>
          </a:p>
        </p:txBody>
      </p:sp>
      <p:sp>
        <p:nvSpPr>
          <p:cNvPr id="45" name="Oval 44"/>
          <p:cNvSpPr/>
          <p:nvPr/>
        </p:nvSpPr>
        <p:spPr>
          <a:xfrm>
            <a:off x="10241280" y="3529584"/>
            <a:ext cx="182880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14432" y="3611880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Always wins</a:t>
            </a:r>
          </a:p>
        </p:txBody>
      </p:sp>
      <p:sp>
        <p:nvSpPr>
          <p:cNvPr id="47" name="Oval 46"/>
          <p:cNvSpPr/>
          <p:nvPr/>
        </p:nvSpPr>
        <p:spPr>
          <a:xfrm>
            <a:off x="320040" y="4023360"/>
            <a:ext cx="260604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4105656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AI Try-On</a:t>
            </a:r>
          </a:p>
        </p:txBody>
      </p:sp>
      <p:sp>
        <p:nvSpPr>
          <p:cNvPr id="49" name="Oval 48"/>
          <p:cNvSpPr/>
          <p:nvPr/>
        </p:nvSpPr>
        <p:spPr>
          <a:xfrm>
            <a:off x="3063240" y="4023360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36392" y="4105656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51" name="Oval 50"/>
          <p:cNvSpPr/>
          <p:nvPr/>
        </p:nvSpPr>
        <p:spPr>
          <a:xfrm>
            <a:off x="5532120" y="4023360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05272" y="4105656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53" name="Oval 52"/>
          <p:cNvSpPr/>
          <p:nvPr/>
        </p:nvSpPr>
        <p:spPr>
          <a:xfrm>
            <a:off x="8001000" y="4023360"/>
            <a:ext cx="2103120" cy="4572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74152" y="4105656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Tint AI + TRY TOGETHER</a:t>
            </a:r>
          </a:p>
        </p:txBody>
      </p:sp>
      <p:sp>
        <p:nvSpPr>
          <p:cNvPr id="55" name="Oval 54"/>
          <p:cNvSpPr/>
          <p:nvPr/>
        </p:nvSpPr>
        <p:spPr>
          <a:xfrm>
            <a:off x="10241280" y="4023360"/>
            <a:ext cx="182880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14432" y="4105656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Exclusive</a:t>
            </a:r>
          </a:p>
        </p:txBody>
      </p:sp>
      <p:sp>
        <p:nvSpPr>
          <p:cNvPr id="57" name="Oval 56"/>
          <p:cNvSpPr/>
          <p:nvPr/>
        </p:nvSpPr>
        <p:spPr>
          <a:xfrm>
            <a:off x="320040" y="4517136"/>
            <a:ext cx="260604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4599432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Creator Income</a:t>
            </a:r>
          </a:p>
        </p:txBody>
      </p:sp>
      <p:sp>
        <p:nvSpPr>
          <p:cNvPr id="59" name="Oval 58"/>
          <p:cNvSpPr/>
          <p:nvPr/>
        </p:nvSpPr>
        <p:spPr>
          <a:xfrm>
            <a:off x="3063240" y="4517136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36392" y="4599432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Irregular</a:t>
            </a:r>
          </a:p>
        </p:txBody>
      </p:sp>
      <p:sp>
        <p:nvSpPr>
          <p:cNvPr id="61" name="Oval 60"/>
          <p:cNvSpPr/>
          <p:nvPr/>
        </p:nvSpPr>
        <p:spPr>
          <a:xfrm>
            <a:off x="5532120" y="4517136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05272" y="4599432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Irregular</a:t>
            </a:r>
          </a:p>
        </p:txBody>
      </p:sp>
      <p:sp>
        <p:nvSpPr>
          <p:cNvPr id="63" name="Oval 62"/>
          <p:cNvSpPr/>
          <p:nvPr/>
        </p:nvSpPr>
        <p:spPr>
          <a:xfrm>
            <a:off x="8001000" y="4517136"/>
            <a:ext cx="2103120" cy="45720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74152" y="4599432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Stable + tiered</a:t>
            </a:r>
          </a:p>
        </p:txBody>
      </p:sp>
      <p:sp>
        <p:nvSpPr>
          <p:cNvPr id="65" name="Oval 64"/>
          <p:cNvSpPr/>
          <p:nvPr/>
        </p:nvSpPr>
        <p:spPr>
          <a:xfrm>
            <a:off x="10241280" y="4517136"/>
            <a:ext cx="182880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14432" y="4599432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Loyalty</a:t>
            </a:r>
          </a:p>
        </p:txBody>
      </p:sp>
      <p:sp>
        <p:nvSpPr>
          <p:cNvPr id="67" name="Oval 66"/>
          <p:cNvSpPr/>
          <p:nvPr/>
        </p:nvSpPr>
        <p:spPr>
          <a:xfrm>
            <a:off x="320040" y="5010912"/>
            <a:ext cx="260604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" y="5093208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QR Loyalty Loop</a:t>
            </a:r>
          </a:p>
        </p:txBody>
      </p:sp>
      <p:sp>
        <p:nvSpPr>
          <p:cNvPr id="69" name="Oval 68"/>
          <p:cNvSpPr/>
          <p:nvPr/>
        </p:nvSpPr>
        <p:spPr>
          <a:xfrm>
            <a:off x="3063240" y="5010912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36392" y="5093208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71" name="Oval 70"/>
          <p:cNvSpPr/>
          <p:nvPr/>
        </p:nvSpPr>
        <p:spPr>
          <a:xfrm>
            <a:off x="5532120" y="5010912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05272" y="5093208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73" name="Oval 72"/>
          <p:cNvSpPr/>
          <p:nvPr/>
        </p:nvSpPr>
        <p:spPr>
          <a:xfrm>
            <a:off x="8001000" y="5010912"/>
            <a:ext cx="2103120" cy="4572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74152" y="5093208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Every package</a:t>
            </a:r>
          </a:p>
        </p:txBody>
      </p:sp>
      <p:sp>
        <p:nvSpPr>
          <p:cNvPr id="75" name="Oval 74"/>
          <p:cNvSpPr/>
          <p:nvPr/>
        </p:nvSpPr>
        <p:spPr>
          <a:xfrm>
            <a:off x="10241280" y="5010912"/>
            <a:ext cx="182880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14432" y="5093208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Unique</a:t>
            </a:r>
          </a:p>
        </p:txBody>
      </p:sp>
      <p:sp>
        <p:nvSpPr>
          <p:cNvPr id="77" name="Oval 76"/>
          <p:cNvSpPr/>
          <p:nvPr/>
        </p:nvSpPr>
        <p:spPr>
          <a:xfrm>
            <a:off x="320040" y="5504688"/>
            <a:ext cx="260604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" y="5586984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AI Influencer</a:t>
            </a:r>
          </a:p>
        </p:txBody>
      </p:sp>
      <p:sp>
        <p:nvSpPr>
          <p:cNvPr id="79" name="Oval 78"/>
          <p:cNvSpPr/>
          <p:nvPr/>
        </p:nvSpPr>
        <p:spPr>
          <a:xfrm>
            <a:off x="3063240" y="5504688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136392" y="5586984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81" name="Oval 80"/>
          <p:cNvSpPr/>
          <p:nvPr/>
        </p:nvSpPr>
        <p:spPr>
          <a:xfrm>
            <a:off x="5532120" y="5504688"/>
            <a:ext cx="233172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605272" y="5586984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83" name="Oval 82"/>
          <p:cNvSpPr/>
          <p:nvPr/>
        </p:nvSpPr>
        <p:spPr>
          <a:xfrm>
            <a:off x="8001000" y="5504688"/>
            <a:ext cx="2103120" cy="457200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74152" y="5586984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Enterprise tier</a:t>
            </a:r>
          </a:p>
        </p:txBody>
      </p:sp>
      <p:sp>
        <p:nvSpPr>
          <p:cNvPr id="85" name="Oval 84"/>
          <p:cNvSpPr/>
          <p:nvPr/>
        </p:nvSpPr>
        <p:spPr>
          <a:xfrm>
            <a:off x="10241280" y="5504688"/>
            <a:ext cx="1828800" cy="45720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314432" y="5586984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Unique</a:t>
            </a:r>
          </a:p>
        </p:txBody>
      </p:sp>
      <p:sp>
        <p:nvSpPr>
          <p:cNvPr id="87" name="Oval 86"/>
          <p:cNvSpPr/>
          <p:nvPr/>
        </p:nvSpPr>
        <p:spPr>
          <a:xfrm>
            <a:off x="320040" y="5998464"/>
            <a:ext cx="260604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" y="6080760"/>
            <a:ext cx="2496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Niche Focus</a:t>
            </a:r>
          </a:p>
        </p:txBody>
      </p:sp>
      <p:sp>
        <p:nvSpPr>
          <p:cNvPr id="89" name="Oval 88"/>
          <p:cNvSpPr/>
          <p:nvPr/>
        </p:nvSpPr>
        <p:spPr>
          <a:xfrm>
            <a:off x="3063240" y="5998464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36392" y="6080760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Everything</a:t>
            </a:r>
          </a:p>
        </p:txBody>
      </p:sp>
      <p:sp>
        <p:nvSpPr>
          <p:cNvPr id="91" name="Oval 90"/>
          <p:cNvSpPr/>
          <p:nvPr/>
        </p:nvSpPr>
        <p:spPr>
          <a:xfrm>
            <a:off x="5532120" y="5998464"/>
            <a:ext cx="233172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05272" y="6080760"/>
            <a:ext cx="2221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Lifestyle</a:t>
            </a:r>
          </a:p>
        </p:txBody>
      </p:sp>
      <p:sp>
        <p:nvSpPr>
          <p:cNvPr id="93" name="Oval 92"/>
          <p:cNvSpPr/>
          <p:nvPr/>
        </p:nvSpPr>
        <p:spPr>
          <a:xfrm>
            <a:off x="8001000" y="5998464"/>
            <a:ext cx="2103120" cy="45720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74152" y="6080760"/>
            <a:ext cx="1993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22C55E"/>
                </a:solidFill>
              </a:rPr>
              <a:t>Asian Beauty</a:t>
            </a:r>
          </a:p>
        </p:txBody>
      </p:sp>
      <p:sp>
        <p:nvSpPr>
          <p:cNvPr id="95" name="Oval 94"/>
          <p:cNvSpPr/>
          <p:nvPr/>
        </p:nvSpPr>
        <p:spPr>
          <a:xfrm>
            <a:off x="10241280" y="5998464"/>
            <a:ext cx="1828800" cy="457200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314432" y="6080760"/>
            <a:ext cx="17190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5C518"/>
                </a:solidFill>
              </a:rPr>
              <a:t>✅ Authority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07 · THREE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Every Transaction. Every Member. Every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Three independent income sources — all growing simultaneously.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057400"/>
            <a:ext cx="3749039" cy="42062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057400"/>
            <a:ext cx="3749039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E50FB"/>
                </a:solidFill>
              </a:rPr>
              <a:t>STREAM 1
Transaction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520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15% flat fee on all campaign sales
20% skincare re-orders
25% colour cosmetics re-orders
Scales directly with GMV — the more brands sell, the more we earn. Zero cost to generate.</a:t>
            </a:r>
          </a:p>
        </p:txBody>
      </p:sp>
      <p:sp>
        <p:nvSpPr>
          <p:cNvPr id="11" name="Oval 10"/>
          <p:cNvSpPr/>
          <p:nvPr/>
        </p:nvSpPr>
        <p:spPr>
          <a:xfrm>
            <a:off x="4251959" y="2057400"/>
            <a:ext cx="3749039" cy="42062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2057400"/>
            <a:ext cx="3749039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19" y="214884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C55E"/>
                </a:solidFill>
              </a:rPr>
              <a:t>STREAM 2
Brand SaaS Membership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926080"/>
            <a:ext cx="3520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Essential: HK$400/mo
Professional: HK$900/mo
Enterprise: HK$2,500/mo
Recurring, predictable revenue. 30 brands at Professional tier = HK$27,000/mo baseline.</a:t>
            </a:r>
          </a:p>
        </p:txBody>
      </p:sp>
      <p:sp>
        <p:nvSpPr>
          <p:cNvPr id="15" name="Oval 14"/>
          <p:cNvSpPr/>
          <p:nvPr/>
        </p:nvSpPr>
        <p:spPr>
          <a:xfrm>
            <a:off x="8183879" y="2057400"/>
            <a:ext cx="3749039" cy="420624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057400"/>
            <a:ext cx="3749039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148840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18"/>
                </a:solidFill>
              </a:rPr>
              <a:t>STREAM 3
Consumer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2926080"/>
            <a:ext cx="3520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Free (points-based entry)
Beauty Member: HK$68/mo
Beauty VIP: HK$168/mo
Flywheel revenue — members spend more, generate reviews, and re-order automatically.</a:t>
            </a:r>
          </a:p>
        </p:txBody>
      </p:sp>
      <p:sp>
        <p:nvSpPr>
          <p:cNvPr id="19" name="Oval 18"/>
          <p:cNvSpPr/>
          <p:nvPr/>
        </p:nvSpPr>
        <p:spPr>
          <a:xfrm>
            <a:off x="320040" y="6400800"/>
            <a:ext cx="1156716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Influencer Shop Basic Match (USD$50-100/match) and Tutorial AI content generation add supplementary revenue from Phase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08 ·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Conservative Base. Explosive Upside.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Lean cost base (HK$65-85K/mo hurdle) means profitability arrives faster than any comparable platform.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1965960"/>
            <a:ext cx="2880360" cy="411480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0B0C8"/>
                </a:solidFill>
              </a:rPr>
              <a:t>METRIC</a:t>
            </a:r>
          </a:p>
        </p:txBody>
      </p:sp>
      <p:sp>
        <p:nvSpPr>
          <p:cNvPr id="9" name="Oval 8"/>
          <p:cNvSpPr/>
          <p:nvPr/>
        </p:nvSpPr>
        <p:spPr>
          <a:xfrm>
            <a:off x="3337560" y="1965960"/>
            <a:ext cx="3063240" cy="41148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99339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YEAR 1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1965960"/>
            <a:ext cx="2743200" cy="41148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YEAR 2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0" y="1965960"/>
            <a:ext cx="2606040" cy="41148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9339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YEAR 3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" y="2450592"/>
            <a:ext cx="288036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2374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Active Brands</a:t>
            </a:r>
          </a:p>
        </p:txBody>
      </p:sp>
      <p:sp>
        <p:nvSpPr>
          <p:cNvPr id="17" name="Oval 16"/>
          <p:cNvSpPr/>
          <p:nvPr/>
        </p:nvSpPr>
        <p:spPr>
          <a:xfrm>
            <a:off x="3337560" y="2450592"/>
            <a:ext cx="30632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252374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20–30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450592"/>
            <a:ext cx="274320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52374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100–150</a:t>
            </a:r>
          </a:p>
        </p:txBody>
      </p:sp>
      <p:sp>
        <p:nvSpPr>
          <p:cNvPr id="21" name="Oval 20"/>
          <p:cNvSpPr/>
          <p:nvPr/>
        </p:nvSpPr>
        <p:spPr>
          <a:xfrm>
            <a:off x="9418320" y="2450592"/>
            <a:ext cx="26060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52374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350–450</a:t>
            </a:r>
          </a:p>
        </p:txBody>
      </p:sp>
      <p:sp>
        <p:nvSpPr>
          <p:cNvPr id="23" name="Oval 22"/>
          <p:cNvSpPr/>
          <p:nvPr/>
        </p:nvSpPr>
        <p:spPr>
          <a:xfrm>
            <a:off x="320040" y="2916936"/>
            <a:ext cx="288036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9900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Active Creators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2916936"/>
            <a:ext cx="30632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299008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50–80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2916936"/>
            <a:ext cx="274320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99008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200–300</a:t>
            </a:r>
          </a:p>
        </p:txBody>
      </p:sp>
      <p:sp>
        <p:nvSpPr>
          <p:cNvPr id="29" name="Oval 28"/>
          <p:cNvSpPr/>
          <p:nvPr/>
        </p:nvSpPr>
        <p:spPr>
          <a:xfrm>
            <a:off x="9418320" y="2916936"/>
            <a:ext cx="26060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0" y="299008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600–800</a:t>
            </a:r>
          </a:p>
        </p:txBody>
      </p:sp>
      <p:sp>
        <p:nvSpPr>
          <p:cNvPr id="31" name="Oval 30"/>
          <p:cNvSpPr/>
          <p:nvPr/>
        </p:nvSpPr>
        <p:spPr>
          <a:xfrm>
            <a:off x="320040" y="3383280"/>
            <a:ext cx="288036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5643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Consumer Members</a:t>
            </a:r>
          </a:p>
        </p:txBody>
      </p:sp>
      <p:sp>
        <p:nvSpPr>
          <p:cNvPr id="33" name="Oval 32"/>
          <p:cNvSpPr/>
          <p:nvPr/>
        </p:nvSpPr>
        <p:spPr>
          <a:xfrm>
            <a:off x="3337560" y="3383280"/>
            <a:ext cx="30632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345643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500–2,000</a:t>
            </a:r>
          </a:p>
        </p:txBody>
      </p:sp>
      <p:sp>
        <p:nvSpPr>
          <p:cNvPr id="35" name="Oval 34"/>
          <p:cNvSpPr/>
          <p:nvPr/>
        </p:nvSpPr>
        <p:spPr>
          <a:xfrm>
            <a:off x="6537960" y="3383280"/>
            <a:ext cx="274320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345643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10,000–30,000</a:t>
            </a:r>
          </a:p>
        </p:txBody>
      </p:sp>
      <p:sp>
        <p:nvSpPr>
          <p:cNvPr id="37" name="Oval 36"/>
          <p:cNvSpPr/>
          <p:nvPr/>
        </p:nvSpPr>
        <p:spPr>
          <a:xfrm>
            <a:off x="9418320" y="3383280"/>
            <a:ext cx="26060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45643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80,000–200,000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" y="3849624"/>
            <a:ext cx="288036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392277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Platform GMV</a:t>
            </a:r>
          </a:p>
        </p:txBody>
      </p:sp>
      <p:sp>
        <p:nvSpPr>
          <p:cNvPr id="41" name="Oval 40"/>
          <p:cNvSpPr/>
          <p:nvPr/>
        </p:nvSpPr>
        <p:spPr>
          <a:xfrm>
            <a:off x="3337560" y="3849624"/>
            <a:ext cx="30632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392277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HK$20–35M</a:t>
            </a:r>
          </a:p>
        </p:txBody>
      </p:sp>
      <p:sp>
        <p:nvSpPr>
          <p:cNvPr id="43" name="Oval 42"/>
          <p:cNvSpPr/>
          <p:nvPr/>
        </p:nvSpPr>
        <p:spPr>
          <a:xfrm>
            <a:off x="6537960" y="3849624"/>
            <a:ext cx="274320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392277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HK$150–225M</a:t>
            </a:r>
          </a:p>
        </p:txBody>
      </p:sp>
      <p:sp>
        <p:nvSpPr>
          <p:cNvPr id="45" name="Oval 44"/>
          <p:cNvSpPr/>
          <p:nvPr/>
        </p:nvSpPr>
        <p:spPr>
          <a:xfrm>
            <a:off x="9418320" y="3849624"/>
            <a:ext cx="26060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392277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HK$600–810M</a:t>
            </a:r>
          </a:p>
        </p:txBody>
      </p:sp>
      <p:sp>
        <p:nvSpPr>
          <p:cNvPr id="47" name="Oval 46"/>
          <p:cNvSpPr/>
          <p:nvPr/>
        </p:nvSpPr>
        <p:spPr>
          <a:xfrm>
            <a:off x="320040" y="4315968"/>
            <a:ext cx="288036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38912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Transaction Revenue</a:t>
            </a:r>
          </a:p>
        </p:txBody>
      </p:sp>
      <p:sp>
        <p:nvSpPr>
          <p:cNvPr id="49" name="Oval 48"/>
          <p:cNvSpPr/>
          <p:nvPr/>
        </p:nvSpPr>
        <p:spPr>
          <a:xfrm>
            <a:off x="3337560" y="4315968"/>
            <a:ext cx="30632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29000" y="438912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HK$3–5.25M</a:t>
            </a:r>
          </a:p>
        </p:txBody>
      </p:sp>
      <p:sp>
        <p:nvSpPr>
          <p:cNvPr id="51" name="Oval 50"/>
          <p:cNvSpPr/>
          <p:nvPr/>
        </p:nvSpPr>
        <p:spPr>
          <a:xfrm>
            <a:off x="6537960" y="4315968"/>
            <a:ext cx="274320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29400" y="4389120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HK$22–33.75M</a:t>
            </a:r>
          </a:p>
        </p:txBody>
      </p:sp>
      <p:sp>
        <p:nvSpPr>
          <p:cNvPr id="53" name="Oval 52"/>
          <p:cNvSpPr/>
          <p:nvPr/>
        </p:nvSpPr>
        <p:spPr>
          <a:xfrm>
            <a:off x="9418320" y="4315968"/>
            <a:ext cx="26060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0" y="43891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HK$90–121.5M</a:t>
            </a:r>
          </a:p>
        </p:txBody>
      </p:sp>
      <p:sp>
        <p:nvSpPr>
          <p:cNvPr id="55" name="Oval 54"/>
          <p:cNvSpPr/>
          <p:nvPr/>
        </p:nvSpPr>
        <p:spPr>
          <a:xfrm>
            <a:off x="320040" y="4782312"/>
            <a:ext cx="288036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85546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Brand SaaS Revenue</a:t>
            </a:r>
          </a:p>
        </p:txBody>
      </p:sp>
      <p:sp>
        <p:nvSpPr>
          <p:cNvPr id="57" name="Oval 56"/>
          <p:cNvSpPr/>
          <p:nvPr/>
        </p:nvSpPr>
        <p:spPr>
          <a:xfrm>
            <a:off x="3337560" y="4782312"/>
            <a:ext cx="30632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29000" y="48554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HK$1.5–2.1M</a:t>
            </a:r>
          </a:p>
        </p:txBody>
      </p:sp>
      <p:sp>
        <p:nvSpPr>
          <p:cNvPr id="59" name="Oval 58"/>
          <p:cNvSpPr/>
          <p:nvPr/>
        </p:nvSpPr>
        <p:spPr>
          <a:xfrm>
            <a:off x="6537960" y="4782312"/>
            <a:ext cx="274320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29400" y="4855464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HK$10–15.8M</a:t>
            </a:r>
          </a:p>
        </p:txBody>
      </p:sp>
      <p:sp>
        <p:nvSpPr>
          <p:cNvPr id="61" name="Oval 60"/>
          <p:cNvSpPr/>
          <p:nvPr/>
        </p:nvSpPr>
        <p:spPr>
          <a:xfrm>
            <a:off x="9418320" y="4782312"/>
            <a:ext cx="26060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09760" y="485546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HK$40–56M</a:t>
            </a:r>
          </a:p>
        </p:txBody>
      </p:sp>
      <p:sp>
        <p:nvSpPr>
          <p:cNvPr id="63" name="Oval 62"/>
          <p:cNvSpPr/>
          <p:nvPr/>
        </p:nvSpPr>
        <p:spPr>
          <a:xfrm>
            <a:off x="320040" y="5248656"/>
            <a:ext cx="288036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53218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Consumer Membership Rev</a:t>
            </a:r>
          </a:p>
        </p:txBody>
      </p:sp>
      <p:sp>
        <p:nvSpPr>
          <p:cNvPr id="65" name="Oval 64"/>
          <p:cNvSpPr/>
          <p:nvPr/>
        </p:nvSpPr>
        <p:spPr>
          <a:xfrm>
            <a:off x="3337560" y="5248656"/>
            <a:ext cx="30632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29000" y="532180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HK$0.4–1.2M</a:t>
            </a:r>
          </a:p>
        </p:txBody>
      </p:sp>
      <p:sp>
        <p:nvSpPr>
          <p:cNvPr id="67" name="Oval 66"/>
          <p:cNvSpPr/>
          <p:nvPr/>
        </p:nvSpPr>
        <p:spPr>
          <a:xfrm>
            <a:off x="6537960" y="5248656"/>
            <a:ext cx="274320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29400" y="5321808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HK$8–20M</a:t>
            </a:r>
          </a:p>
        </p:txBody>
      </p:sp>
      <p:sp>
        <p:nvSpPr>
          <p:cNvPr id="69" name="Oval 68"/>
          <p:cNvSpPr/>
          <p:nvPr/>
        </p:nvSpPr>
        <p:spPr>
          <a:xfrm>
            <a:off x="9418320" y="5248656"/>
            <a:ext cx="2606040" cy="429768"/>
          </a:xfrm>
          <a:prstGeom prst="ellipse">
            <a:avLst/>
          </a:prstGeom>
          <a:solidFill>
            <a:srgbClr val="1E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509760" y="532180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HK$60–160M</a:t>
            </a:r>
          </a:p>
        </p:txBody>
      </p:sp>
      <p:sp>
        <p:nvSpPr>
          <p:cNvPr id="71" name="Oval 70"/>
          <p:cNvSpPr/>
          <p:nvPr/>
        </p:nvSpPr>
        <p:spPr>
          <a:xfrm>
            <a:off x="320040" y="5715000"/>
            <a:ext cx="288036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57881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C82FC"/>
                </a:solidFill>
              </a:rPr>
              <a:t>Operating Costs (Lean)</a:t>
            </a:r>
          </a:p>
        </p:txBody>
      </p:sp>
      <p:sp>
        <p:nvSpPr>
          <p:cNvPr id="73" name="Oval 72"/>
          <p:cNvSpPr/>
          <p:nvPr/>
        </p:nvSpPr>
        <p:spPr>
          <a:xfrm>
            <a:off x="3337560" y="5715000"/>
            <a:ext cx="30632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29000" y="57881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HK$1.8–2.5M</a:t>
            </a:r>
          </a:p>
        </p:txBody>
      </p:sp>
      <p:sp>
        <p:nvSpPr>
          <p:cNvPr id="75" name="Oval 74"/>
          <p:cNvSpPr/>
          <p:nvPr/>
        </p:nvSpPr>
        <p:spPr>
          <a:xfrm>
            <a:off x="6537960" y="5715000"/>
            <a:ext cx="274320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629400" y="5788152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HK$6–10M</a:t>
            </a:r>
          </a:p>
        </p:txBody>
      </p:sp>
      <p:sp>
        <p:nvSpPr>
          <p:cNvPr id="77" name="Oval 76"/>
          <p:cNvSpPr/>
          <p:nvPr/>
        </p:nvSpPr>
        <p:spPr>
          <a:xfrm>
            <a:off x="9418320" y="5715000"/>
            <a:ext cx="2606040" cy="429768"/>
          </a:xfrm>
          <a:prstGeom prst="ellipse">
            <a:avLst/>
          </a:prstGeom>
          <a:solidFill>
            <a:srgbClr val="14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509760" y="57881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</a:rPr>
              <a:t>HK$15–25M</a:t>
            </a:r>
          </a:p>
        </p:txBody>
      </p:sp>
      <p:sp>
        <p:nvSpPr>
          <p:cNvPr id="79" name="Oval 78"/>
          <p:cNvSpPr/>
          <p:nvPr/>
        </p:nvSpPr>
        <p:spPr>
          <a:xfrm>
            <a:off x="320040" y="6181344"/>
            <a:ext cx="2880360" cy="42976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625449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55E"/>
                </a:solidFill>
              </a:rPr>
              <a:t>NET PROFIT</a:t>
            </a:r>
          </a:p>
        </p:txBody>
      </p:sp>
      <p:sp>
        <p:nvSpPr>
          <p:cNvPr id="81" name="Oval 80"/>
          <p:cNvSpPr/>
          <p:nvPr/>
        </p:nvSpPr>
        <p:spPr>
          <a:xfrm>
            <a:off x="3337560" y="6181344"/>
            <a:ext cx="3063240" cy="42976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29000" y="625449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55E"/>
                </a:solidFill>
              </a:rPr>
              <a:t>HK$2–4.85M</a:t>
            </a:r>
          </a:p>
        </p:txBody>
      </p:sp>
      <p:sp>
        <p:nvSpPr>
          <p:cNvPr id="83" name="Oval 82"/>
          <p:cNvSpPr/>
          <p:nvPr/>
        </p:nvSpPr>
        <p:spPr>
          <a:xfrm>
            <a:off x="6537960" y="6181344"/>
            <a:ext cx="2743200" cy="42976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629400" y="6254496"/>
            <a:ext cx="2606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55E"/>
                </a:solidFill>
              </a:rPr>
              <a:t>HK$22–39.5M</a:t>
            </a:r>
          </a:p>
        </p:txBody>
      </p:sp>
      <p:sp>
        <p:nvSpPr>
          <p:cNvPr id="85" name="Oval 84"/>
          <p:cNvSpPr/>
          <p:nvPr/>
        </p:nvSpPr>
        <p:spPr>
          <a:xfrm>
            <a:off x="9418320" y="6181344"/>
            <a:ext cx="2606040" cy="429768"/>
          </a:xfrm>
          <a:prstGeom prst="ellipse">
            <a:avLst/>
          </a:prstGeom>
          <a:solidFill>
            <a:srgbClr val="1E1A40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09760" y="625449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C55E"/>
                </a:solidFill>
              </a:rPr>
              <a:t>HK$105–152M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09 · 15-MONTH ROI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Break-Even at Month 12. Full Capital Return by Month 15.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HK$2-3.5M raised. HK$2-4.85M net profit Year 1. Capital returned within 15 months.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103120"/>
            <a:ext cx="2212848" cy="41605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5E50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03120"/>
            <a:ext cx="2212848" cy="59436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20299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5E50FB"/>
                </a:solidFill>
              </a:rPr>
              <a:t>Months 1–3
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07792"/>
            <a:ext cx="202996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HK Team setup (Kieran + Loreen + Ally)
AI stack configured (Make.com, Tidio, Klaviyo)
Vybd US commerce OS integrated
First 10 brands onboarded
First 10 influencers certified</a:t>
            </a:r>
          </a:p>
        </p:txBody>
      </p:sp>
      <p:sp>
        <p:nvSpPr>
          <p:cNvPr id="11" name="Oval 10"/>
          <p:cNvSpPr/>
          <p:nvPr/>
        </p:nvSpPr>
        <p:spPr>
          <a:xfrm>
            <a:off x="2679192" y="2103120"/>
            <a:ext cx="2212848" cy="41605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8C82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79192" y="2103120"/>
            <a:ext cx="2212848" cy="59436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0632" y="2194560"/>
            <a:ext cx="20299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8C82FC"/>
                </a:solidFill>
              </a:rPr>
              <a:t>Months 4–6
CREATOR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907792"/>
            <a:ext cx="202996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50 influencers certified and active
Personal shops live with brand products
TRY TOGETHER beta launched
First campaign drops — 30% off
QR sticker loyalty loop activated</a:t>
            </a:r>
          </a:p>
        </p:txBody>
      </p:sp>
      <p:sp>
        <p:nvSpPr>
          <p:cNvPr id="15" name="Oval 14"/>
          <p:cNvSpPr/>
          <p:nvPr/>
        </p:nvSpPr>
        <p:spPr>
          <a:xfrm>
            <a:off x="5038344" y="2103120"/>
            <a:ext cx="2212848" cy="41605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2103120"/>
            <a:ext cx="2212848" cy="5943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4" y="2194560"/>
            <a:ext cx="20299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5C518"/>
                </a:solidFill>
              </a:rPr>
              <a:t>Months 7–9
BRAND BLITZ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4" y="2907792"/>
            <a:ext cx="202996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30 brands fully onboarded
Campaign calendar fully populated
AI influencer demos live (Enterprise)
Consumer membership launched
First B2B SaaS renewals confirmed</a:t>
            </a:r>
          </a:p>
        </p:txBody>
      </p:sp>
      <p:sp>
        <p:nvSpPr>
          <p:cNvPr id="19" name="Oval 18"/>
          <p:cNvSpPr/>
          <p:nvPr/>
        </p:nvSpPr>
        <p:spPr>
          <a:xfrm>
            <a:off x="7397496" y="2103120"/>
            <a:ext cx="2212848" cy="41605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97496" y="2103120"/>
            <a:ext cx="2212848" cy="5943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8936" y="2194560"/>
            <a:ext cx="20299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22C55E"/>
                </a:solidFill>
              </a:rPr>
              <a:t>Months 10–12
BREAK-EVEN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907792"/>
            <a:ext cx="202996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Platform GMV hits HK$4M/month
Monthly revenue covers all costs
Break-even achieved — Month 12
NEST VC data package ready
StartmeUp HK application submitted</a:t>
            </a:r>
          </a:p>
        </p:txBody>
      </p:sp>
      <p:sp>
        <p:nvSpPr>
          <p:cNvPr id="23" name="Oval 22"/>
          <p:cNvSpPr/>
          <p:nvPr/>
        </p:nvSpPr>
        <p:spPr>
          <a:xfrm>
            <a:off x="9756648" y="2103120"/>
            <a:ext cx="2212848" cy="4160520"/>
          </a:xfrm>
          <a:prstGeom prst="ellipse">
            <a:avLst/>
          </a:prstGeom>
          <a:solidFill>
            <a:srgbClr val="141035"/>
          </a:solidFill>
          <a:ln w="12700">
            <a:solidFill>
              <a:srgbClr val="F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6648" y="2103120"/>
            <a:ext cx="2212848" cy="59436"/>
          </a:xfrm>
          <a:prstGeom prst="rect">
            <a:avLst/>
          </a:prstGeom>
          <a:solidFill>
            <a:srgbClr val="FF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48088" y="2194560"/>
            <a:ext cx="20299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6BB5"/>
                </a:solidFill>
              </a:rPr>
              <a:t>Months 13–15
FULL ROI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48088" y="2907792"/>
            <a:ext cx="202996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Cumulative net profit exceeds raise
Full capital returned to investors
Platform self-funding from here
8-12x ROI trajectory confirmed
Series A preparation begins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228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182880"/>
            <a:ext cx="3657600" cy="310896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10 · CAPITAL RAISE &amp; 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HK$2M – HK$3.5M. Lean. Targeted. Accountable.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89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2FC"/>
                </a:solidFill>
              </a:rPr>
              <a:t>Every dollar mapped to a specific outcome. No waste. No guesswork.</a:t>
            </a:r>
          </a:p>
        </p:txBody>
      </p:sp>
      <p:sp>
        <p:nvSpPr>
          <p:cNvPr id="7" name="Oval 6"/>
          <p:cNvSpPr/>
          <p:nvPr/>
        </p:nvSpPr>
        <p:spPr>
          <a:xfrm>
            <a:off x="320040" y="2103120"/>
            <a:ext cx="2258568" cy="59436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21031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E50FB"/>
                </a:solidFill>
              </a:rPr>
              <a:t>Creator Acquisition
&amp; Campaign Seeding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HK$760K–1.33M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7627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First 50 influencers + first 30 brand campaigns + seeding content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" y="2944368"/>
            <a:ext cx="1485900" cy="594360"/>
          </a:xfrm>
          <a:prstGeom prst="ellipse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9443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2FC"/>
                </a:solidFill>
              </a:rPr>
              <a:t>Technology &amp;
AI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81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HK$500K–875K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1752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Make.com + Logie + Tidio + Klaviyo + platform build</a:t>
            </a:r>
          </a:p>
        </p:txBody>
      </p:sp>
      <p:sp>
        <p:nvSpPr>
          <p:cNvPr id="17" name="Oval 16"/>
          <p:cNvSpPr/>
          <p:nvPr/>
        </p:nvSpPr>
        <p:spPr>
          <a:xfrm>
            <a:off x="320040" y="3785615"/>
            <a:ext cx="1188720" cy="5943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22775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85615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Brand Sales &amp;
Onboarding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92277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HK$400K–700K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58767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Kieran-led brand outreach + Vybd US integration + onboarding</a:t>
            </a:r>
          </a:p>
        </p:txBody>
      </p:sp>
      <p:sp>
        <p:nvSpPr>
          <p:cNvPr id="22" name="Oval 21"/>
          <p:cNvSpPr/>
          <p:nvPr/>
        </p:nvSpPr>
        <p:spPr>
          <a:xfrm>
            <a:off x="320040" y="4626864"/>
            <a:ext cx="594360" cy="59436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64024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268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18"/>
                </a:solidFill>
              </a:rPr>
              <a:t>Legal, US Entity
&amp; 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7640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HK$200K–350K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70001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TRY TOGETHER trademark + US entity + platform T&amp;Cs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" y="5468112"/>
            <a:ext cx="416052" cy="594360"/>
          </a:xfrm>
          <a:prstGeom prst="ellipse">
            <a:avLst/>
          </a:prstGeom>
          <a:solidFill>
            <a:srgbClr val="B0B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605272"/>
            <a:ext cx="685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1A"/>
                </a:solidFill>
              </a:rPr>
              <a:t> 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" y="54681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B0C8"/>
                </a:solidFill>
              </a:rPr>
              <a:t>Operating
Reserve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052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HK$140K–245K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54126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0B0C8"/>
                </a:solidFill>
              </a:rPr>
              <a:t>3-month contingency buffer</a:t>
            </a:r>
          </a:p>
        </p:txBody>
      </p:sp>
      <p:sp>
        <p:nvSpPr>
          <p:cNvPr id="32" name="Oval 31"/>
          <p:cNvSpPr/>
          <p:nvPr/>
        </p:nvSpPr>
        <p:spPr>
          <a:xfrm>
            <a:off x="320040" y="6400800"/>
            <a:ext cx="11567160" cy="320040"/>
          </a:xfrm>
          <a:prstGeom prst="ellipse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3737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TOTAL: HK$2,000,000 – HK$3,500,000  ·  Equity or Convertible Note  ·  Target 8–12x return by Year 3  ·  Break-even Month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28816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B0B0C8"/>
                </a:solidFill>
              </a:rPr>
              <a:t>SIMPLEX-ITY  ·  Investor Pitch Deck v4  ·  June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