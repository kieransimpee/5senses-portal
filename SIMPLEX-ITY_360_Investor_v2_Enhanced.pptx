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20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508760"/>
            <a:ext cx="6400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5E50FB"/>
                </a:solidFill>
              </a:rPr>
              <a:t>SIMPLEX-ITY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360° Full Investor Intelligence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C82FC"/>
                </a:solidFill>
              </a:rPr>
              <a:t>One Stop Asian Beauty  ·  Simplify to Amplify  ·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0B0C8"/>
                </a:solidFill>
              </a:rPr>
              <a:t>kieran@5senses.global  ·  SIMPLEX-ITY (Branch of 5SENSESBEAUTY LIMITED)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09160"/>
            <a:ext cx="5029200" cy="2743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0C8"/>
                </a:solidFill>
              </a:rPr>
              <a:t>Prepared with Node Family Collective Intelligence  ·  ASIMPLEXIS  ·  CONFIDENTIAL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1097280"/>
            <a:ext cx="2560320" cy="1463040"/>
          </a:xfrm>
          <a:prstGeom prst="ellipse">
            <a:avLst/>
          </a:prstGeom>
          <a:solidFill>
            <a:srgbClr val="1A173A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5E50FB"/>
                </a:solidFill>
              </a:rPr>
              <a:t>$2.3B</a:t>
            </a:r>
          </a:p>
          <a:p>
            <a:pPr algn="ctr"/>
            <a:r>
              <a:rPr sz="1000">
                <a:solidFill>
                  <a:srgbClr val="B0B0C8"/>
                </a:solidFill>
              </a:rPr>
              <a:t>Global AI Beauty
Market 2026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2560320" cy="1463040"/>
          </a:xfrm>
          <a:prstGeom prst="ellipse">
            <a:avLst/>
          </a:prstGeom>
          <a:solidFill>
            <a:srgbClr val="1A173A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5E50FB"/>
                </a:solidFill>
              </a:rPr>
              <a:t>22%</a:t>
            </a:r>
          </a:p>
          <a:p>
            <a:pPr algn="ctr"/>
            <a:r>
              <a:rPr sz="1000">
                <a:solidFill>
                  <a:srgbClr val="B0B0C8"/>
                </a:solidFill>
              </a:rPr>
              <a:t>CAGR Growth
Projected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389120"/>
            <a:ext cx="2560320" cy="1463040"/>
          </a:xfrm>
          <a:prstGeom prst="ellipse">
            <a:avLst/>
          </a:prstGeom>
          <a:solidFill>
            <a:srgbClr val="1A173A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5E50FB"/>
                </a:solidFill>
              </a:rPr>
              <a:t>3-MO</a:t>
            </a:r>
          </a:p>
          <a:p>
            <a:pPr algn="ctr"/>
            <a:r>
              <a:rPr sz="1000">
                <a:solidFill>
                  <a:srgbClr val="B0B0C8"/>
                </a:solidFill>
              </a:rPr>
              <a:t>Trial Running
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01 ·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The Opportunity in One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Three markets. One platform. Already running.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The Market Gap</a:t>
            </a:r>
          </a:p>
          <a:p>
            <a:r>
              <a:rPr sz="1250">
                <a:solidFill>
                  <a:srgbClr val="FFFFFF"/>
                </a:solidFill>
              </a:rPr>
              <a:t>Asian beauty brands want North America. US/Canada influencers want premium Asian brands.</a:t>
            </a:r>
          </a:p>
          <a:p>
            <a:r>
              <a:rPr sz="1250">
                <a:solidFill>
                  <a:srgbClr val="FFFFFF"/>
                </a:solidFill>
              </a:rPr>
              <a:t>Consumers want authentic discovery. No platform bridges all three — until now.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What SIMPLEX-ITY Is</a:t>
            </a:r>
          </a:p>
          <a:p>
            <a:r>
              <a:rPr sz="1250">
                <a:solidFill>
                  <a:srgbClr val="FFFFFF"/>
                </a:solidFill>
              </a:rPr>
              <a:t>The only managed cross-border influencer marketing platform specialising in Asian beauty,</a:t>
            </a:r>
          </a:p>
          <a:p>
            <a:r>
              <a:rPr sz="1250">
                <a:solidFill>
                  <a:srgbClr val="FFFFFF"/>
                </a:solidFill>
              </a:rPr>
              <a:t>powered by AI virtual try-on (Tint AI), verified creator network, and full campaign management.</a:t>
            </a:r>
          </a:p>
          <a:p>
            <a:r>
              <a:rPr sz="1250">
                <a:solidFill>
                  <a:srgbClr val="FFFFFF"/>
                </a:solidFill>
              </a:rPr>
              <a:t>We are not software. We are a partner that delivers results.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Why This Moment</a:t>
            </a:r>
          </a:p>
          <a:p>
            <a:r>
              <a:rPr sz="1250">
                <a:solidFill>
                  <a:srgbClr val="FFFFFF"/>
                </a:solidFill>
              </a:rPr>
              <a:t>Platform is LIVE. Trial is RUNNING. Tint AI is INTEGRATED.</a:t>
            </a:r>
          </a:p>
          <a:p>
            <a:r>
              <a:rPr sz="1250">
                <a:solidFill>
                  <a:srgbClr val="FFFFFF"/>
                </a:solidFill>
              </a:rPr>
              <a:t>Banuba partnership CONFIRMED. Vybd commerce OS in final negotiation.</a:t>
            </a:r>
          </a:p>
          <a:p>
            <a:r>
              <a:rPr sz="1250">
                <a:solidFill>
                  <a:srgbClr val="FFFFFF"/>
                </a:solidFill>
              </a:rPr>
              <a:t>Wilson / FundFluent team active. StartmeUp HK track open.</a:t>
            </a:r>
          </a:p>
          <a:p>
            <a:r>
              <a:t/>
            </a:r>
          </a:p>
          <a:p>
            <a:r>
              <a:rPr sz="1200" b="1">
                <a:solidFill>
                  <a:srgbClr val="F5C518"/>
                </a:solidFill>
              </a:rPr>
              <a:t>★ This is not a concept deck. It is a running engine inviting fuel.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02 ·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Three Groups. Three Frustrations. Zero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A fragmented market worth $2.3B with no trusted bridge.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2103120"/>
            <a:ext cx="3566160" cy="402336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C82FC"/>
                </a:solidFill>
              </a:rPr>
              <a:t>For Asian 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No US/Canada creator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Language &amp; culture barriers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No managed campaign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Brand protection at risk</a:t>
            </a:r>
          </a:p>
        </p:txBody>
      </p:sp>
      <p:sp>
        <p:nvSpPr>
          <p:cNvPr id="14" name="Oval 13"/>
          <p:cNvSpPr/>
          <p:nvPr/>
        </p:nvSpPr>
        <p:spPr>
          <a:xfrm>
            <a:off x="4206240" y="2103120"/>
            <a:ext cx="3566160" cy="402336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2402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C82FC"/>
                </a:solidFill>
              </a:rPr>
              <a:t>For US/Canada Creators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432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Want premium Asian beauty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461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No reliable brand sourcing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49039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No trust verification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251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Manual relationship mgmt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0" y="2103120"/>
            <a:ext cx="3566160" cy="402336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2402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C82FC"/>
                </a:solidFill>
              </a:rPr>
              <a:t>For Consumers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Crave Asian beauty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2461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No trusted curators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749039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Fragmented shopping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251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FFFFFF"/>
                </a:solidFill>
              </a:rPr>
              <a:t>• No personalised AI try-on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03 · COMPETITIVE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Why SIMPLEX-ITY Wins Where Others Don't Compete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Vertical. Managed. AI-powered. Cross-border by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vs. LTK / ShopMy / Amazon Influencer (Horizontal Platforms)</a:t>
            </a:r>
          </a:p>
          <a:p>
            <a:r>
              <a:rPr sz="1150">
                <a:solidFill>
                  <a:srgbClr val="B0B0C8"/>
                </a:solidFill>
              </a:rPr>
              <a:t>  No Asian beauty specialisation. No brand management. No try-on. Brand still does all the work.</a:t>
            </a:r>
          </a:p>
          <a:p>
            <a:r>
              <a:rPr sz="1150">
                <a:solidFill>
                  <a:srgbClr val="B0B0C8"/>
                </a:solidFill>
              </a:rPr>
              <a:t>  SIMPLEX-ITY: Vertical focus, managed end-to-end, AI try-on embedded.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vs. Nox Belel / Grin / Aspire (SaaS Tools)</a:t>
            </a:r>
          </a:p>
          <a:p>
            <a:r>
              <a:rPr sz="1150">
                <a:solidFill>
                  <a:srgbClr val="B0B0C8"/>
                </a:solidFill>
              </a:rPr>
              <a:t>  Software only. Brands still source, vet, manage creators themselves. No curation depth.</a:t>
            </a:r>
          </a:p>
          <a:p>
            <a:r>
              <a:rPr sz="1150">
                <a:solidFill>
                  <a:srgbClr val="B0B0C8"/>
                </a:solidFill>
              </a:rPr>
              <a:t>  SIMPLEX-ITY: We manage the campaign. Brands pay for outcomes, not admin time.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vs. Local HK Agencies</a:t>
            </a:r>
          </a:p>
          <a:p>
            <a:r>
              <a:rPr sz="1150">
                <a:solidFill>
                  <a:srgbClr val="B0B0C8"/>
                </a:solidFill>
              </a:rPr>
              <a:t>  HK-market only. No US/Canada creator network. No AI layer. No try-on capability.</a:t>
            </a:r>
          </a:p>
          <a:p>
            <a:r>
              <a:rPr sz="1150">
                <a:solidFill>
                  <a:srgbClr val="B0B0C8"/>
                </a:solidFill>
              </a:rPr>
              <a:t>  SIMPLEX-ITY: US/Canada primary. Cross-border infrastructure built in from Day 1.</a:t>
            </a:r>
          </a:p>
          <a:p>
            <a:r>
              <a:t/>
            </a:r>
          </a:p>
          <a:p>
            <a:r>
              <a:rPr sz="1200" b="1">
                <a:solidFill>
                  <a:srgbClr val="F5C518"/>
                </a:solidFill>
              </a:rPr>
              <a:t>★ The 3 Moats No Competitor Has:</a:t>
            </a:r>
          </a:p>
          <a:p>
            <a:r>
              <a:rPr sz="1150">
                <a:solidFill>
                  <a:srgbClr val="B0B0C8"/>
                </a:solidFill>
              </a:rPr>
              <a:t>  1. Tint AI Virtual Try-On embedded in campaigns — 25%+ conversion lift</a:t>
            </a:r>
          </a:p>
          <a:p>
            <a:r>
              <a:rPr sz="1150">
                <a:solidFill>
                  <a:srgbClr val="B0B0C8"/>
                </a:solidFill>
              </a:rPr>
              <a:t>  2. Full managed service — not a tool, a performance partner</a:t>
            </a:r>
          </a:p>
          <a:p>
            <a:r>
              <a:rPr sz="1150">
                <a:solidFill>
                  <a:srgbClr val="B0B0C8"/>
                </a:solidFill>
              </a:rPr>
              <a:t>  3. Asian brand × US/Canada creator specialisation — nobody else owns this 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 · HIGHLIGHT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Five Features. One Unfair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What makes SIMPLEX-ITY the platform to back in 2026.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103120"/>
            <a:ext cx="3657600" cy="192024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E50FB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Tint AI Virtual Try-On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B0B0C8"/>
                </a:solidFill>
              </a:rPr>
              <a:t>Try on products digitally before buying. 25%+ conversion lift. No competitor offers this in the influencer channel.</a:t>
            </a:r>
          </a:p>
        </p:txBody>
      </p:sp>
      <p:sp>
        <p:nvSpPr>
          <p:cNvPr id="12" name="Oval 11"/>
          <p:cNvSpPr/>
          <p:nvPr/>
        </p:nvSpPr>
        <p:spPr>
          <a:xfrm>
            <a:off x="4251959" y="2103120"/>
            <a:ext cx="3657600" cy="192024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E50FB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19" y="221284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Curated Creator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26517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B0B0C8"/>
                </a:solidFill>
              </a:rPr>
              <a:t>AI-scored brand-to-influencer matching by audience fit, reliability, and engagement history. Certified. Rated. Managed.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2103120"/>
            <a:ext cx="3657600" cy="192024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E50FB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9" y="221284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Full Campaign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6517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B0B0C8"/>
                </a:solidFill>
              </a:rPr>
              <a:t>Brief → Match → Execute → Report. Brands pay for outcomes. Live count + blog tracking built in.</a:t>
            </a:r>
          </a:p>
        </p:txBody>
      </p:sp>
      <p:sp>
        <p:nvSpPr>
          <p:cNvPr id="20" name="Oval 19"/>
          <p:cNvSpPr/>
          <p:nvPr/>
        </p:nvSpPr>
        <p:spPr>
          <a:xfrm>
            <a:off x="320040" y="4206240"/>
            <a:ext cx="3657600" cy="192024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E50FB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159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Vybd Commerce 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B0B0C8"/>
                </a:solidFill>
              </a:rPr>
              <a:t>US market storefront infrastructure via Vybd partnership. Brands get managed US entry without building it themselves.</a:t>
            </a:r>
          </a:p>
        </p:txBody>
      </p:sp>
      <p:sp>
        <p:nvSpPr>
          <p:cNvPr id="24" name="Oval 23"/>
          <p:cNvSpPr/>
          <p:nvPr/>
        </p:nvSpPr>
        <p:spPr>
          <a:xfrm>
            <a:off x="4251959" y="4206240"/>
            <a:ext cx="3657600" cy="192024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19" y="4297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E50FB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19" y="43159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Influencer Shop Ownership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B0B0C8"/>
                </a:solidFill>
              </a:rPr>
              <a:t>Creators own branded storefronts. Drives deeper engagement, brand loyalty, and direct-to-audience commerce.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05 ·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Three Revenue Streams. Recurring 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Zero upfront risk for brands during trial. Full revenue activated at launch.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103120"/>
            <a:ext cx="3657600" cy="4114800"/>
          </a:xfrm>
          <a:prstGeom prst="ellipse">
            <a:avLst/>
          </a:prstGeom>
          <a:solidFill>
            <a:srgbClr val="141035"/>
          </a:solidFill>
          <a:ln w="1524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240280"/>
            <a:ext cx="16459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STREAM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Brand Membership
(Recurring SaaS)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0B0C8"/>
                </a:solidFill>
              </a:rPr>
              <a:t>Essential  HK$400/mo
Professional  HK$900/mo
Enterprise  HK$2,500/mo
Brands access creator network,
campaign tools, analytics.</a:t>
            </a:r>
          </a:p>
        </p:txBody>
      </p:sp>
      <p:sp>
        <p:nvSpPr>
          <p:cNvPr id="12" name="Oval 11"/>
          <p:cNvSpPr/>
          <p:nvPr/>
        </p:nvSpPr>
        <p:spPr>
          <a:xfrm>
            <a:off x="4251959" y="2103120"/>
            <a:ext cx="3657600" cy="4114800"/>
          </a:xfrm>
          <a:prstGeom prst="ellipse">
            <a:avLst/>
          </a:prstGeom>
          <a:solidFill>
            <a:srgbClr val="141035"/>
          </a:solidFill>
          <a:ln w="1524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19" y="2240280"/>
            <a:ext cx="16459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STREAM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697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Campaign Commission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34747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0B0C8"/>
                </a:solidFill>
              </a:rPr>
              <a:t>Platform earns % on each
completed influencer campaign.
Aligned incentive: we earn more
when campaigns perform better.
Brands pay for results.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2103120"/>
            <a:ext cx="3657600" cy="4114800"/>
          </a:xfrm>
          <a:prstGeom prst="ellipse">
            <a:avLst/>
          </a:prstGeom>
          <a:solidFill>
            <a:srgbClr val="141035"/>
          </a:solidFill>
          <a:ln w="1524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9" y="2240280"/>
            <a:ext cx="16459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STREAM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697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Premium Creator
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4747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0B0C8"/>
                </a:solidFill>
              </a:rPr>
              <a:t>Influencers unlock premium shop,
priority matching, advanced analytics.
Optional upgrade keeps entry low
while monetising top creators.
AI certification badge included.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 · CAPITAL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Seed Round — Specific, Disciplined, Measurable.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HK$2,000,000 – HK$3,500,000  (US$255K – US$450K)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Use of Funds</a:t>
            </a:r>
          </a:p>
          <a:p>
            <a:r>
              <a:rPr sz="1250">
                <a:solidFill>
                  <a:srgbClr val="FFFFFF"/>
                </a:solidFill>
              </a:rPr>
              <a:t>40%  US/Canada Creator Acquisition &amp; Campaign Seeding</a:t>
            </a:r>
          </a:p>
          <a:p>
            <a:r>
              <a:rPr sz="1250">
                <a:solidFill>
                  <a:srgbClr val="FFFFFF"/>
                </a:solidFill>
              </a:rPr>
              <a:t>25%  Technology Infrastructure (platform, analytics, Tint AI scaling)</a:t>
            </a:r>
          </a:p>
          <a:p>
            <a:r>
              <a:rPr sz="1250">
                <a:solidFill>
                  <a:srgbClr val="FFFFFF"/>
                </a:solidFill>
              </a:rPr>
              <a:t>20%  Sales &amp; Brand Onboarding (dedicated brand relationship team)</a:t>
            </a:r>
          </a:p>
          <a:p>
            <a:r>
              <a:rPr sz="1250">
                <a:solidFill>
                  <a:srgbClr val="FFFFFF"/>
                </a:solidFill>
              </a:rPr>
              <a:t>10%  Legal, Compliance &amp; IP Protection (US market entry)</a:t>
            </a:r>
          </a:p>
          <a:p>
            <a:r>
              <a:rPr sz="1250">
                <a:solidFill>
                  <a:srgbClr val="FFFFFF"/>
                </a:solidFill>
              </a:rPr>
              <a:t> 5%  Operating Reserve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What This Capital Unlocks (6 Months Post-Close)</a:t>
            </a:r>
          </a:p>
          <a:p>
            <a:r>
              <a:rPr sz="1200">
                <a:solidFill>
                  <a:srgbClr val="22C55E"/>
                </a:solidFill>
              </a:rPr>
              <a:t>✅ 50 verified brand partners onboarded</a:t>
            </a:r>
          </a:p>
          <a:p>
            <a:r>
              <a:rPr sz="1200">
                <a:solidFill>
                  <a:srgbClr val="22C55E"/>
                </a:solidFill>
              </a:rPr>
              <a:t>✅ 200 certified US/Canada creators in network</a:t>
            </a:r>
          </a:p>
          <a:p>
            <a:r>
              <a:rPr sz="1200">
                <a:solidFill>
                  <a:srgbClr val="22C55E"/>
                </a:solidFill>
              </a:rPr>
              <a:t>✅ Full analytics dashboard live</a:t>
            </a:r>
          </a:p>
          <a:p>
            <a:r>
              <a:rPr sz="1200">
                <a:solidFill>
                  <a:srgbClr val="22C55E"/>
                </a:solidFill>
              </a:rPr>
              <a:t>✅ NEST VC pitch-ready data package by Q4 2026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Structure</a:t>
            </a:r>
          </a:p>
          <a:p>
            <a:r>
              <a:rPr sz="1250">
                <a:solidFill>
                  <a:srgbClr val="FFFFFF"/>
                </a:solidFill>
              </a:rPr>
              <a:t>Equity or Convertible Note — open to investor preference.</a:t>
            </a:r>
          </a:p>
          <a:p>
            <a:r>
              <a:rPr sz="1250">
                <a:solidFill>
                  <a:srgbClr val="FFFFFF"/>
                </a:solidFill>
              </a:rPr>
              <a:t>Board observer seat available for lead investor.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07 · ROI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Year 1 → 2 → 3 Return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Conservative, mid, and optimistic — modelled from real trial data.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057400"/>
            <a:ext cx="3474720" cy="1463040"/>
          </a:xfrm>
          <a:prstGeom prst="ellipse">
            <a:avLst/>
          </a:prstGeom>
          <a:solidFill>
            <a:srgbClr val="1A173A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5E50FB"/>
                </a:solidFill>
              </a:rPr>
              <a:t>HK$960K</a:t>
            </a:r>
          </a:p>
          <a:p>
            <a:pPr algn="ctr"/>
            <a:r>
              <a:rPr sz="1000">
                <a:solidFill>
                  <a:srgbClr val="B0B0C8"/>
                </a:solidFill>
              </a:rPr>
              <a:t>Year 1
Mid Revenue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2057400"/>
            <a:ext cx="3474720" cy="1463040"/>
          </a:xfrm>
          <a:prstGeom prst="ellipse">
            <a:avLst/>
          </a:prstGeom>
          <a:solidFill>
            <a:srgbClr val="1A173A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5E50FB"/>
                </a:solidFill>
              </a:rPr>
              <a:t>HK$4.8M</a:t>
            </a:r>
          </a:p>
          <a:p>
            <a:pPr algn="ctr"/>
            <a:r>
              <a:rPr sz="1000">
                <a:solidFill>
                  <a:srgbClr val="B0B0C8"/>
                </a:solidFill>
              </a:rPr>
              <a:t>Year 2
Mid Revenue</a:t>
            </a:r>
          </a:p>
        </p:txBody>
      </p:sp>
      <p:sp>
        <p:nvSpPr>
          <p:cNvPr id="10" name="Oval 9"/>
          <p:cNvSpPr/>
          <p:nvPr/>
        </p:nvSpPr>
        <p:spPr>
          <a:xfrm>
            <a:off x="8275320" y="2057400"/>
            <a:ext cx="3474720" cy="1463040"/>
          </a:xfrm>
          <a:prstGeom prst="ellipse">
            <a:avLst/>
          </a:prstGeom>
          <a:solidFill>
            <a:srgbClr val="1A173A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5E50FB"/>
                </a:solidFill>
              </a:rPr>
              <a:t>HK$18M</a:t>
            </a:r>
          </a:p>
          <a:p>
            <a:pPr algn="ctr"/>
            <a:r>
              <a:rPr sz="1000">
                <a:solidFill>
                  <a:srgbClr val="B0B0C8"/>
                </a:solidFill>
              </a:rPr>
              <a:t>Year 3
Mid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048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Year 1 — Foundation (Trial → Launch)</a:t>
            </a:r>
          </a:p>
          <a:p>
            <a:r>
              <a:rPr sz="1250">
                <a:solidFill>
                  <a:srgbClr val="FFFFFF"/>
                </a:solidFill>
              </a:rPr>
              <a:t>20–50 active brands  |  60–180 campaigns  |  100–200 creators</a:t>
            </a:r>
          </a:p>
          <a:p>
            <a:r>
              <a:rPr sz="1150">
                <a:solidFill>
                  <a:srgbClr val="B0B0C8"/>
                </a:solidFill>
              </a:rPr>
              <a:t>  Focus: Platform validation. Data capture. Brand trust building. Membership recurring starts.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Year 2 — Scale (Full Fee Model Active)</a:t>
            </a:r>
          </a:p>
          <a:p>
            <a:r>
              <a:rPr sz="1250">
                <a:solidFill>
                  <a:srgbClr val="FFFFFF"/>
                </a:solidFill>
              </a:rPr>
              <a:t>150+ brands  |  600+ campaigns  |  800+ creators</a:t>
            </a:r>
          </a:p>
          <a:p>
            <a:r>
              <a:rPr sz="1150">
                <a:solidFill>
                  <a:srgbClr val="B0B0C8"/>
                </a:solidFill>
              </a:rPr>
              <a:t>  Tint AI driving 25%+ conversion lift. Vybd US commerce active. Singapore/Taiwan entry.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Year 3 — Market Leadership</a:t>
            </a:r>
          </a:p>
          <a:p>
            <a:r>
              <a:rPr sz="1250">
                <a:solidFill>
                  <a:srgbClr val="FFFFFF"/>
                </a:solidFill>
              </a:rPr>
              <a:t>Market position: #1 Asian-to-US beauty influencer platform</a:t>
            </a:r>
          </a:p>
          <a:p>
            <a:r>
              <a:rPr sz="1150">
                <a:solidFill>
                  <a:srgbClr val="B0B0C8"/>
                </a:solidFill>
              </a:rPr>
              <a:t>  NEST VC Series A raise. 8–12x seed investor return target. Break-even Month 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08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Disciplined Sequencing. No Step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Q2 2026 → Q3 2027 — Five stages of verified execution.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4884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2313432"/>
            <a:ext cx="1143000" cy="27432"/>
          </a:xfrm>
          <a:prstGeom prst="rect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</a:rPr>
              <a:t>Q2 2026
NOW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3291840"/>
            <a:ext cx="2194560" cy="292608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429000"/>
            <a:ext cx="2011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Trial live. Tint AI integrated. Banuba confirmed. Vybd finalising. Platform running.</a:t>
            </a:r>
          </a:p>
        </p:txBody>
      </p:sp>
      <p:sp>
        <p:nvSpPr>
          <p:cNvPr id="13" name="Oval 12"/>
          <p:cNvSpPr/>
          <p:nvPr/>
        </p:nvSpPr>
        <p:spPr>
          <a:xfrm>
            <a:off x="3428999" y="2148840"/>
            <a:ext cx="365760" cy="365760"/>
          </a:xfrm>
          <a:prstGeom prst="ellipse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94759" y="2313432"/>
            <a:ext cx="1143000" cy="27432"/>
          </a:xfrm>
          <a:prstGeom prst="rect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39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C82FC"/>
                </a:solidFill>
              </a:rPr>
              <a:t>Q3 2026</a:t>
            </a:r>
          </a:p>
        </p:txBody>
      </p:sp>
      <p:sp>
        <p:nvSpPr>
          <p:cNvPr id="16" name="Oval 15"/>
          <p:cNvSpPr/>
          <p:nvPr/>
        </p:nvSpPr>
        <p:spPr>
          <a:xfrm>
            <a:off x="2606039" y="3291840"/>
            <a:ext cx="2194560" cy="292608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8C8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3429000"/>
            <a:ext cx="2011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50 brands onboarded. 200 creators certified. StartmeUp HK submitted. NEST VC contact.</a:t>
            </a:r>
          </a:p>
        </p:txBody>
      </p:sp>
      <p:sp>
        <p:nvSpPr>
          <p:cNvPr id="18" name="Oval 17"/>
          <p:cNvSpPr/>
          <p:nvPr/>
        </p:nvSpPr>
        <p:spPr>
          <a:xfrm>
            <a:off x="5760719" y="2148840"/>
            <a:ext cx="365760" cy="36576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79" y="2313432"/>
            <a:ext cx="1143000" cy="27432"/>
          </a:xfrm>
          <a:prstGeom prst="rect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E50FB"/>
                </a:solidFill>
              </a:rPr>
              <a:t>Q4 2026</a:t>
            </a:r>
          </a:p>
        </p:txBody>
      </p:sp>
      <p:sp>
        <p:nvSpPr>
          <p:cNvPr id="21" name="Oval 20"/>
          <p:cNvSpPr/>
          <p:nvPr/>
        </p:nvSpPr>
        <p:spPr>
          <a:xfrm>
            <a:off x="4937759" y="3291840"/>
            <a:ext cx="2194560" cy="292608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199" y="3429000"/>
            <a:ext cx="2011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Full analytics live. Seed round presented to NEST VC with validated campaign data.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39" y="2148840"/>
            <a:ext cx="365760" cy="36576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58199" y="2313432"/>
            <a:ext cx="1143000" cy="27432"/>
          </a:xfrm>
          <a:prstGeom prst="rect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79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</a:rPr>
              <a:t>Q1–Q2
2027</a:t>
            </a:r>
          </a:p>
        </p:txBody>
      </p:sp>
      <p:sp>
        <p:nvSpPr>
          <p:cNvPr id="26" name="Oval 25"/>
          <p:cNvSpPr/>
          <p:nvPr/>
        </p:nvSpPr>
        <p:spPr>
          <a:xfrm>
            <a:off x="7269479" y="3291840"/>
            <a:ext cx="2194560" cy="292608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3429000"/>
            <a:ext cx="2011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Series A raise. Singapore + Taiwan entry. Enterprise tier. Commission fully active.</a:t>
            </a:r>
          </a:p>
        </p:txBody>
      </p:sp>
      <p:sp>
        <p:nvSpPr>
          <p:cNvPr id="28" name="Oval 27"/>
          <p:cNvSpPr/>
          <p:nvPr/>
        </p:nvSpPr>
        <p:spPr>
          <a:xfrm>
            <a:off x="10424160" y="214884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</a:rPr>
              <a:t>Q3 2027</a:t>
            </a:r>
          </a:p>
        </p:txBody>
      </p:sp>
      <p:sp>
        <p:nvSpPr>
          <p:cNvPr id="30" name="Oval 29"/>
          <p:cNvSpPr/>
          <p:nvPr/>
        </p:nvSpPr>
        <p:spPr>
          <a:xfrm>
            <a:off x="9601200" y="3291840"/>
            <a:ext cx="2194560" cy="2926080"/>
          </a:xfrm>
          <a:prstGeom prst="ellipse">
            <a:avLst/>
          </a:prstGeom>
          <a:solidFill>
            <a:srgbClr val="141035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3429000"/>
            <a:ext cx="2011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200+ brands. 1,000+ creators. #1 Asian-to-US beauty influencer platform.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09 · PROOF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This Is Already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Not projected. Not promised. Already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Live Milestones (as of June 2026)</a:t>
            </a:r>
          </a:p>
          <a:p>
            <a:r>
              <a:rPr sz="1200">
                <a:solidFill>
                  <a:srgbClr val="22C55E"/>
                </a:solidFill>
              </a:rPr>
              <a:t>✅ Platform LIVE — trial campaigns running</a:t>
            </a:r>
          </a:p>
          <a:p>
            <a:r>
              <a:rPr sz="1200">
                <a:solidFill>
                  <a:srgbClr val="22C55E"/>
                </a:solidFill>
              </a:rPr>
              <a:t>✅ Tint AI Virtual Try-On INTEGRATED — verified by Banuba partnership confirmation</a:t>
            </a:r>
          </a:p>
          <a:p>
            <a:r>
              <a:rPr sz="1200">
                <a:solidFill>
                  <a:srgbClr val="22C55E"/>
                </a:solidFill>
              </a:rPr>
              <a:t>✅ FundFluent / Wilson Tai — partnership agreement signed</a:t>
            </a:r>
          </a:p>
          <a:p>
            <a:r>
              <a:rPr sz="1200">
                <a:solidFill>
                  <a:srgbClr val="22C55E"/>
                </a:solidFill>
              </a:rPr>
              <a:t>✅ Banuba confirmed commitment — Nikita Afanasjew (email on record, June 2026)</a:t>
            </a:r>
          </a:p>
          <a:p>
            <a:r>
              <a:rPr sz="1200">
                <a:solidFill>
                  <a:srgbClr val="22C55E"/>
                </a:solidFill>
              </a:rPr>
              <a:t>✅ Vybd US Commerce OS — final negotiation stage</a:t>
            </a:r>
          </a:p>
          <a:p>
            <a:r>
              <a:rPr sz="1200">
                <a:solidFill>
                  <a:srgbClr val="22C55E"/>
                </a:solidFill>
              </a:rPr>
              <a:t>✅ StartmeUp HK — parallel government support track active</a:t>
            </a:r>
          </a:p>
          <a:p>
            <a:r>
              <a:rPr sz="1200">
                <a:solidFill>
                  <a:srgbClr val="22C55E"/>
                </a:solidFill>
              </a:rPr>
              <a:t>✅ Brand registration active — BR No. 78459506-001-07-25-A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Community Proof</a:t>
            </a:r>
          </a:p>
          <a:p>
            <a:r>
              <a:rPr sz="1250">
                <a:solidFill>
                  <a:srgbClr val="FFFFFF"/>
                </a:solidFill>
              </a:rPr>
              <a:t>3-month zero-fee trial model generating real campaign data.</a:t>
            </a:r>
          </a:p>
          <a:p>
            <a:r>
              <a:rPr sz="1250">
                <a:solidFill>
                  <a:srgbClr val="FFFFFF"/>
                </a:solidFill>
              </a:rPr>
              <a:t>Brands supply goods + 30% discount. Platform captures market validation.</a:t>
            </a:r>
          </a:p>
          <a:p>
            <a:r>
              <a:rPr sz="1250">
                <a:solidFill>
                  <a:srgbClr val="FFFFFF"/>
                </a:solidFill>
              </a:rPr>
              <a:t>Every campaign is a proof point for the NEST VC pitch package.</a:t>
            </a:r>
          </a:p>
          <a:p>
            <a:r>
              <a:t/>
            </a:r>
          </a:p>
          <a:p>
            <a:r>
              <a:rPr sz="1200" b="1">
                <a:solidFill>
                  <a:srgbClr val="F5C518"/>
                </a:solidFill>
              </a:rPr>
              <a:t>★ Real partnerships. Real data. Real momentum. The engine is running.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01168"/>
            <a:ext cx="256032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10 · 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Join SIMPLEX-ITY at the Foundation.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Where returns are built — not discovered 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What We Offer</a:t>
            </a:r>
          </a:p>
          <a:p>
            <a:r>
              <a:rPr sz="1250">
                <a:solidFill>
                  <a:srgbClr val="FFFFFF"/>
                </a:solidFill>
              </a:rPr>
              <a:t>Early-stage equity in the only managed cross-border Asian beauty influencer platform</a:t>
            </a:r>
          </a:p>
          <a:p>
            <a:r>
              <a:rPr sz="1250">
                <a:solidFill>
                  <a:srgbClr val="FFFFFF"/>
                </a:solidFill>
              </a:rPr>
              <a:t>with AI try-on, verified creator network, and US/Canada market infrastructure.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Why This Moment — Not Next Year</a:t>
            </a:r>
          </a:p>
          <a:p>
            <a:r>
              <a:rPr sz="1250">
                <a:solidFill>
                  <a:srgbClr val="FFFFFF"/>
                </a:solidFill>
              </a:rPr>
              <a:t>Asian beauty is having its global moment. TikTok Shop. XHS. K-beauty's US surge.</a:t>
            </a:r>
          </a:p>
          <a:p>
            <a:r>
              <a:rPr sz="1250">
                <a:solidFill>
                  <a:srgbClr val="FFFFFF"/>
                </a:solidFill>
              </a:rPr>
              <a:t>The window to own the infrastructure layer is NOW — competitors will arrive in 12–18 months.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Investment Terms</a:t>
            </a:r>
          </a:p>
          <a:p>
            <a:r>
              <a:rPr sz="1250">
                <a:solidFill>
                  <a:srgbClr val="FFFFFF"/>
                </a:solidFill>
              </a:rPr>
              <a:t>Seed Round: HK$2M – HK$3.5M  |  Equity or Convertible Note</a:t>
            </a:r>
          </a:p>
          <a:p>
            <a:r>
              <a:rPr sz="1250">
                <a:solidFill>
                  <a:srgbClr val="FFFFFF"/>
                </a:solidFill>
              </a:rPr>
              <a:t>Target return: 8–12x by Year 3 at Series A  |  Break-even: Month 18</a:t>
            </a:r>
          </a:p>
          <a:p>
            <a:r>
              <a:t/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8C82FC"/>
                </a:solidFill>
              </a:rPr>
              <a:t>Contact</a:t>
            </a:r>
          </a:p>
          <a:p>
            <a:r>
              <a:rPr sz="1250">
                <a:solidFill>
                  <a:srgbClr val="FFFFFF"/>
                </a:solidFill>
              </a:rPr>
              <a:t>Kieran Li — Founder, SIMPLEX-ITY (Branch of 5SENSESBEAUTY LIMITED)</a:t>
            </a:r>
          </a:p>
          <a:p>
            <a:r>
              <a:rPr sz="1250">
                <a:solidFill>
                  <a:srgbClr val="FFFFFF"/>
                </a:solidFill>
              </a:rPr>
              <a:t>kieran@5senses.global  |  Room 1608, 16/F APEC Plaza, Kwun Tong, Hong Kong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0B0C8"/>
                </a:solidFill>
              </a:rPr>
              <a:t>SIMPLEX-ITY  ·  Confidential Investor Brief  ·  June 2026  ·  kieran@5senses.global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