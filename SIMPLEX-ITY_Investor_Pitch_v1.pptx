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0" y="0"/>
            <a:ext cx="4873752" cy="6858000"/>
          </a:xfrm>
          <a:prstGeom prst="rect">
            <a:avLst/>
          </a:prstGeom>
          <a:solidFill>
            <a:srgbClr val="201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0" y="0"/>
            <a:ext cx="54864" cy="6858000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roduct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274320"/>
            <a:ext cx="4572000" cy="6400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0" y="0"/>
            <a:ext cx="4873752" cy="6858000"/>
          </a:xfrm>
          <a:prstGeom prst="rect">
            <a:avLst/>
          </a:prstGeom>
          <a:solidFill>
            <a:srgbClr val="201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1168"/>
            <a:ext cx="2377440" cy="8573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132588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999AA"/>
                </a:solidFill>
                <a:latin typeface="Montserrat"/>
              </a:rPr>
              <a:t>INVESTOR PRESENTATION  ·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6583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Montserrat"/>
              </a:rPr>
              <a:t>The trusted path to
Asian beauty discovery.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749039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AB4FD"/>
                </a:solidFill>
                <a:latin typeface="Montserrat"/>
              </a:rPr>
              <a:t>Simplex-ity connects verified creators with beauty brands
through curated campaigns, TINT virtual try-on, and
a reliability-scored influencer ecosystem.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120640"/>
            <a:ext cx="5943600" cy="50292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25780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99AA"/>
                </a:solidFill>
                <a:latin typeface="Montserrat"/>
              </a:rPr>
              <a:t>Kieran  ·  kieran@5senses.global  ·  SIMPLEX-ITY by 5SENSESBEAUTY LIMITED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6875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AB4FD"/>
                </a:solidFill>
                <a:latin typeface="Montserrat"/>
              </a:rPr>
              <a:t>simplex-ity.fluentlab.co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64008" cy="6793992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1645920" cy="593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1828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99AA"/>
                </a:solidFill>
                <a:latin typeface="Montserrat"/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9436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1F"/>
                </a:solidFill>
                <a:latin typeface="Montserrat"/>
              </a:rPr>
              <a:t>The opportunity in one page.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11640312" cy="91440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64008" cy="91440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5E50FB"/>
                </a:solidFill>
                <a:latin typeface="Montserrat"/>
              </a:rPr>
              <a:t>Asian beauty, made easier to trust, learn, and love.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468880"/>
            <a:ext cx="5669280" cy="192024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468880"/>
            <a:ext cx="5669280" cy="54864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57860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E50FB"/>
                </a:solidFill>
                <a:latin typeface="Montserrat"/>
              </a:rPr>
              <a:t>The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17520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F"/>
                </a:solidFill>
                <a:latin typeface="Montserrat"/>
              </a:rPr>
              <a:t>Asian beauty brands cannot verify influencer ROI. Consumers cannot trust whether products suit their skin. There is no curated, guided platform connecting both.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468880"/>
            <a:ext cx="5669280" cy="192024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468880"/>
            <a:ext cx="5669280" cy="54864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57860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E50FB"/>
                </a:solidFill>
                <a:latin typeface="Montserrat"/>
              </a:rPr>
              <a:t>Our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017520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F"/>
                </a:solidFill>
                <a:latin typeface="Montserrat"/>
              </a:rPr>
              <a:t>Simplex-ity is the managed influencer marketplace for Asian beauty. We combine verified creator matching, TINT virtual try-on, and real-time campaign tracking in one platform.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572000"/>
            <a:ext cx="5669280" cy="192024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4572000"/>
            <a:ext cx="5669280" cy="54864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68172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E50FB"/>
                </a:solidFill>
                <a:latin typeface="Montserrat"/>
              </a:rPr>
              <a:t>The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120640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F"/>
                </a:solidFill>
                <a:latin typeface="Montserrat"/>
              </a:rPr>
              <a:t>Brands pay monthly membership (HK$400 to HK$2,500). Influencers earn 10-15% commission with zero upfront cost. Platform retains a 5% performance fee post-trial.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572000"/>
            <a:ext cx="5669280" cy="192024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4572000"/>
            <a:ext cx="5669280" cy="54864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68172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E50FB"/>
                </a:solidFill>
                <a:latin typeface="Montserrat"/>
              </a:rPr>
              <a:t>The Opportunity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5120640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F"/>
                </a:solidFill>
                <a:latin typeface="Montserrat"/>
              </a:rPr>
              <a:t>Global AI beauty personalisation market: US$2.3B in 2026. Influencer platform market: US$2.03B by 2031. HK beauty market growing with Instagram at 45.3% share.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64008" cy="6793992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1645920" cy="593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1828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99AA"/>
                </a:solidFill>
                <a:latin typeface="Montserrat"/>
              </a:rPr>
              <a:t>01 —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943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1F"/>
                </a:solidFill>
                <a:latin typeface="Montserrat"/>
              </a:rPr>
              <a:t>A $2.3B market without a trusted guide.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2984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6A"/>
                </a:solidFill>
                <a:latin typeface="Montserrat"/>
              </a:rPr>
              <a:t>Three groups. Three unresolved problems. One platform to fix all three.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20240"/>
            <a:ext cx="3749039" cy="466344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920240"/>
            <a:ext cx="3749039" cy="54864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20574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E50FB"/>
                </a:solidFill>
                <a:latin typeface="Montserrat"/>
              </a:rPr>
              <a:t>For Brands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6060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F"/>
                </a:solidFill>
                <a:latin typeface="Montserrat"/>
              </a:rPr>
              <a:t>— No reliable way to verify influencer audience quality.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317296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F"/>
                </a:solidFill>
                <a:latin typeface="Montserrat"/>
              </a:rPr>
              <a:t>— Virtual try-on technology is expensive and disconnected from campaigns.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3739896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F"/>
                </a:solidFill>
                <a:latin typeface="Montserrat"/>
              </a:rPr>
              <a:t>— Campaign ROI is measured manually, weeks after the fact.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4306824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F"/>
                </a:solidFill>
                <a:latin typeface="Montserrat"/>
              </a:rPr>
              <a:t>— Influencer reliability tracked in spreadsheets, campaigns fail mid-execution.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920240"/>
            <a:ext cx="3749039" cy="466344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1920240"/>
            <a:ext cx="3749039" cy="54864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16552" y="20574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C82FC"/>
                </a:solidFill>
                <a:latin typeface="Montserrat"/>
              </a:rPr>
              <a:t>For Influencers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26060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F"/>
                </a:solidFill>
                <a:latin typeface="Montserrat"/>
              </a:rPr>
              <a:t>— Commission platforms offer no tech advantage to grow sales.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317296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F"/>
                </a:solidFill>
                <a:latin typeface="Montserrat"/>
              </a:rPr>
              <a:t>— Brand matching is opaque and relationship-dependent.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3739896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F"/>
                </a:solidFill>
                <a:latin typeface="Montserrat"/>
              </a:rPr>
              <a:t>— No tools to demonstrate professional reliability to brands.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2" y="4306824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F"/>
                </a:solidFill>
                <a:latin typeface="Montserrat"/>
              </a:rPr>
              <a:t>— Income is inconsistent with no retainer or anchor structure.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920240"/>
            <a:ext cx="3749039" cy="466344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1920240"/>
            <a:ext cx="3749039" cy="54864"/>
          </a:xfrm>
          <a:prstGeom prst="rect">
            <a:avLst/>
          </a:prstGeom>
          <a:solidFill>
            <a:srgbClr val="BAB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94192" y="20574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AB4FD"/>
                </a:solidFill>
                <a:latin typeface="Montserrat"/>
              </a:rPr>
              <a:t>For Consumers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4192" y="26060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F"/>
                </a:solidFill>
                <a:latin typeface="Montserrat"/>
              </a:rPr>
              <a:t>— Shade uncertainty stops purchase at the final step.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4192" y="3172968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F"/>
                </a:solidFill>
                <a:latin typeface="Montserrat"/>
              </a:rPr>
              <a:t>— Creator content is aspirational but not always trustworthy.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3739896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F"/>
                </a:solidFill>
                <a:latin typeface="Montserrat"/>
              </a:rPr>
              <a:t>— Asian beauty discovery is fragmented across platforms.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4306824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F"/>
                </a:solidFill>
                <a:latin typeface="Montserrat"/>
              </a:rPr>
              <a:t>— No single curated source that guides from discovery to purchase.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64008" cy="6793992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1645920" cy="593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1828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99AA"/>
                </a:solidFill>
                <a:latin typeface="Montserrat"/>
              </a:rPr>
              <a:t>02 — 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943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1F"/>
                </a:solidFill>
                <a:latin typeface="Montserrat"/>
              </a:rPr>
              <a:t>Simplex-ity: one managed platform.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2618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6A"/>
                </a:solidFill>
                <a:latin typeface="Montserrat"/>
              </a:rPr>
              <a:t>Brands. Influencers. Try-on technology. Unified.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20240"/>
            <a:ext cx="3749039" cy="224028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920240"/>
            <a:ext cx="3749039" cy="54864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2029968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E50FB"/>
                </a:solidFill>
                <a:latin typeface="Montserrat"/>
              </a:rPr>
              <a:t>Verified Creator Matching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514600"/>
            <a:ext cx="3429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F"/>
                </a:solidFill>
                <a:latin typeface="Montserrat"/>
              </a:rPr>
              <a:t>Curated influencers matched to your brand by audience data and platform reliability score. Selected, not scraped.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60" y="1920240"/>
            <a:ext cx="3749039" cy="224028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60" y="1920240"/>
            <a:ext cx="3749039" cy="54864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2" y="2029968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E50FB"/>
                </a:solidFill>
                <a:latin typeface="Montserrat"/>
              </a:rPr>
              <a:t>TINT Virtual Try-On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2514600"/>
            <a:ext cx="3429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F"/>
                </a:solidFill>
                <a:latin typeface="Montserrat"/>
              </a:rPr>
              <a:t>AR makeup try-on embedded in creator content and brand pages. 25%+ higher conversion rate vs standard links.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920240"/>
            <a:ext cx="3749039" cy="224028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920240"/>
            <a:ext cx="3749039" cy="54864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4192" y="2029968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E50FB"/>
                </a:solidFill>
                <a:latin typeface="Montserrat"/>
              </a:rPr>
              <a:t>Reliability Scorecard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514600"/>
            <a:ext cx="3429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F"/>
                </a:solidFill>
                <a:latin typeface="Montserrat"/>
              </a:rPr>
              <a:t>Every creator rated 0-100% on delivery, engagement, and conversion. Below 70% triggers automatic shop suspension.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343400"/>
            <a:ext cx="3749039" cy="224028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343400"/>
            <a:ext cx="3749039" cy="54864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" y="4453128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E50FB"/>
                </a:solidFill>
                <a:latin typeface="Montserrat"/>
              </a:rPr>
              <a:t>End-to-End Campaign Tracking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" y="4937760"/>
            <a:ext cx="3429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F"/>
                </a:solidFill>
                <a:latin typeface="Montserrat"/>
              </a:rPr>
              <a:t>Live counts, blog delivery, commission paid, and full post-campaign ROI report, in one real-time dashboard.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60" y="4343400"/>
            <a:ext cx="3749039" cy="224028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51960" y="4343400"/>
            <a:ext cx="3749039" cy="54864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16552" y="4453128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E50FB"/>
                </a:solidFill>
                <a:latin typeface="Montserrat"/>
              </a:rPr>
              <a:t>Brand Membership Tiers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16552" y="4937760"/>
            <a:ext cx="3429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F"/>
                </a:solidFill>
                <a:latin typeface="Montserrat"/>
              </a:rPr>
              <a:t>Structured brand partnerships from HK$400/month (Essential) to HK$2,500/month (Enterprise) with clear deliverables.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4343400"/>
            <a:ext cx="3749039" cy="224028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0" y="4343400"/>
            <a:ext cx="3749039" cy="54864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94192" y="4453128"/>
            <a:ext cx="3429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E50FB"/>
                </a:solidFill>
                <a:latin typeface="Montserrat"/>
              </a:rPr>
              <a:t>Digital Franchise 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94192" y="4937760"/>
            <a:ext cx="3429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F"/>
                </a:solidFill>
                <a:latin typeface="Montserrat"/>
              </a:rPr>
              <a:t>Influencers earn 10-15% commission with zero upfront cost. Platform grows through creator cross-pollination and follower synergy.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6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1645920" cy="593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1828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99AA"/>
                </a:solidFill>
                <a:latin typeface="Montserrat"/>
              </a:rPr>
              <a:t>03 — KEY DIFFERENTIATOR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A1A1F"/>
                </a:solidFill>
                <a:latin typeface="Montserrat"/>
              </a:rPr>
              <a:t>TINT Virtual Try-On.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280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A6A"/>
                </a:solidFill>
                <a:latin typeface="Montserrat"/>
              </a:rPr>
              <a:t>The only Asian beauty platform with embedded AR makeup technology.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965960"/>
            <a:ext cx="27432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965960"/>
            <a:ext cx="2743200" cy="54864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084831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5E50FB"/>
                </a:solidFill>
                <a:latin typeface="Montserrat"/>
              </a:rPr>
              <a:t>25%+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907792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F"/>
                </a:solidFill>
                <a:latin typeface="Montserrat"/>
              </a:rPr>
              <a:t>Higher conversion
vs standard links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965960"/>
            <a:ext cx="27432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965960"/>
            <a:ext cx="2743200" cy="54864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2084831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5E50FB"/>
                </a:solidFill>
                <a:latin typeface="Montserrat"/>
              </a:rPr>
              <a:t>200%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907792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F"/>
                </a:solidFill>
                <a:latin typeface="Montserrat"/>
              </a:rPr>
              <a:t>More conversions
vs static images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965960"/>
            <a:ext cx="27432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965960"/>
            <a:ext cx="2743200" cy="54864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59" y="2084831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5E50FB"/>
                </a:solidFill>
                <a:latin typeface="Montserrat"/>
              </a:rPr>
              <a:t>30%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907792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F"/>
                </a:solidFill>
                <a:latin typeface="Montserrat"/>
              </a:rPr>
              <a:t>Higher average
order value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1965960"/>
            <a:ext cx="274320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1965960"/>
            <a:ext cx="2743200" cy="54864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2084831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5E50FB"/>
                </a:solidFill>
                <a:latin typeface="Montserrat"/>
              </a:rPr>
              <a:t>17%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907792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F"/>
                </a:solidFill>
                <a:latin typeface="Montserrat"/>
              </a:rPr>
              <a:t>AI beauty market
CAGR 2025-2033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160520"/>
            <a:ext cx="11640312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4160520"/>
            <a:ext cx="11640312" cy="54864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2793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1F"/>
                </a:solidFill>
                <a:latin typeface="Montserrat"/>
              </a:rPr>
              <a:t>What TINT delivers for your brand partners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7731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E50FB"/>
                </a:solidFill>
                <a:latin typeface="Montserrat"/>
              </a:rPr>
              <a:t>Real-Time AR Try-On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166360"/>
            <a:ext cx="27432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F"/>
                </a:solidFill>
                <a:latin typeface="Montserrat"/>
              </a:rPr>
              <a:t>Lipstick, eyeshadow, and foundation try-on inside creator posts. No app download needed.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47731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E50FB"/>
                </a:solidFill>
                <a:latin typeface="Montserrat"/>
              </a:rPr>
              <a:t>AI Skin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5166360"/>
            <a:ext cx="27432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F"/>
                </a:solidFill>
                <a:latin typeface="Montserrat"/>
              </a:rPr>
              <a:t>Personalised shade recommendations based on consumer skin tone, shown at the point of discovery.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7731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E50FB"/>
                </a:solidFill>
                <a:latin typeface="Montserrat"/>
              </a:rPr>
              <a:t>Embedded Commerce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5166360"/>
            <a:ext cx="27432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F"/>
                </a:solidFill>
                <a:latin typeface="Montserrat"/>
              </a:rPr>
              <a:t>Try-on links directly to purchase. Removes the friction between inspiration and conversion.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5440" y="4773168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E50FB"/>
                </a:solidFill>
                <a:latin typeface="Montserrat"/>
              </a:rPr>
              <a:t>Creator Integration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5440" y="5166360"/>
            <a:ext cx="274320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A1A1F"/>
                </a:solidFill>
                <a:latin typeface="Montserrat"/>
              </a:rPr>
              <a:t>Runs inside live streams and blog posts. Creators use it live, consumers trust what they see.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64008" cy="6793992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1645920" cy="593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1828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99AA"/>
                </a:solidFill>
                <a:latin typeface="Montserrat"/>
              </a:rPr>
              <a:t>04 — MARKET OPPORTUNITY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943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1F"/>
                </a:solidFill>
                <a:latin typeface="Montserrat"/>
              </a:rPr>
              <a:t>A market ready to be shaped.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2788920" cy="182880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554480"/>
            <a:ext cx="2788920" cy="54864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91639"/>
            <a:ext cx="260603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5E50FB"/>
                </a:solidFill>
                <a:latin typeface="Montserrat"/>
              </a:rPr>
              <a:t>$2.3B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468880"/>
            <a:ext cx="2606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F"/>
                </a:solidFill>
                <a:latin typeface="Montserrat"/>
              </a:rPr>
              <a:t>Global AI Beauty
Personalisation
Market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554480"/>
            <a:ext cx="2788920" cy="182880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46120" y="1554480"/>
            <a:ext cx="2788920" cy="54864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37560" y="1691639"/>
            <a:ext cx="260603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5E50FB"/>
                </a:solidFill>
                <a:latin typeface="Montserrat"/>
              </a:rPr>
              <a:t>$2.03B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2468880"/>
            <a:ext cx="2606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F"/>
                </a:solidFill>
                <a:latin typeface="Montserrat"/>
              </a:rPr>
              <a:t>Influencer Platform
Market
by 2031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554480"/>
            <a:ext cx="2788920" cy="182880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554480"/>
            <a:ext cx="2788920" cy="54864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59" y="1691639"/>
            <a:ext cx="260603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5E50FB"/>
                </a:solidFill>
                <a:latin typeface="Montserrat"/>
              </a:rPr>
              <a:t>108%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468880"/>
            <a:ext cx="2606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F"/>
                </a:solidFill>
                <a:latin typeface="Montserrat"/>
              </a:rPr>
              <a:t>TikTok Shop beauty
sales growth
2025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89720" y="1554480"/>
            <a:ext cx="2788920" cy="182880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1554480"/>
            <a:ext cx="2788920" cy="54864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1691639"/>
            <a:ext cx="2606039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5E50FB"/>
                </a:solidFill>
                <a:latin typeface="Montserrat"/>
              </a:rPr>
              <a:t>68%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468880"/>
            <a:ext cx="2606039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1F"/>
                </a:solidFill>
                <a:latin typeface="Montserrat"/>
              </a:rPr>
              <a:t>Beauty purchases
influenced by
social discovery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657600"/>
            <a:ext cx="11640312" cy="100584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3657600"/>
            <a:ext cx="11640312" cy="54864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7673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999AA"/>
                </a:solidFill>
                <a:latin typeface="Montserrat"/>
              </a:rPr>
              <a:t>Hong Kong Market Context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133087"/>
            <a:ext cx="11247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F"/>
                </a:solidFill>
                <a:latin typeface="Montserrat"/>
              </a:rPr>
              <a:t>Instagram leads HK influencer marketing at 45.3% share. Xiaohongshu (XHS) is the fastest-growing platform in HK beauty. Simplex-ity operates across both. TikTok Shop beauty sales grew 108% in 2025. 68% of global beauty purchases are influenced at the discovery stage, the precise moment Simplex-ity captures.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846320"/>
            <a:ext cx="11640312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4846320"/>
            <a:ext cx="11640312" cy="54864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95604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F"/>
                </a:solidFill>
                <a:latin typeface="Montserrat"/>
              </a:rPr>
              <a:t>Why now: gap in the market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37667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6A"/>
                </a:solidFill>
                <a:latin typeface="Montserrat"/>
              </a:rPr>
              <a:t>— Standard affiliate platforms offer no AR technology or reliability governance.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724144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6A"/>
                </a:solidFill>
                <a:latin typeface="Montserrat"/>
              </a:rPr>
              <a:t>— Beauty marketplaces are catalogue-driven and not creator-guided.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071616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6A"/>
                </a:solidFill>
                <a:latin typeface="Montserrat"/>
              </a:rPr>
              <a:t>— No platform currently combines TINT try-on with influencer reliability scoring for the Asian beauty category.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64008" cy="6793992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1645920" cy="593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1828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99AA"/>
                </a:solidFill>
                <a:latin typeface="Montserrat"/>
              </a:rPr>
              <a:t>05 — BUSINESS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943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1F"/>
                </a:solidFill>
                <a:latin typeface="Montserrat"/>
              </a:rPr>
              <a:t>Three revenue streams. Zero upfront risk.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11640312" cy="141732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417320"/>
            <a:ext cx="54864" cy="141732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E50FB"/>
                </a:solidFill>
                <a:latin typeface="Montserrat"/>
              </a:rPr>
              <a:t>Stream 1: Brand Membership (Recurring SaaS)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3852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F"/>
                </a:solidFill>
                <a:latin typeface="Montserrat"/>
              </a:rPr>
              <a:t>Essential HK$400/mo  |  Professional HK$900/mo  |  Enterprise HK$2,500/mo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A5A6A"/>
                </a:solidFill>
                <a:latin typeface="Montserrat"/>
              </a:rPr>
              <a:t>Recurring monthly subscription. Predictable, scalable, platform-independent.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17520"/>
            <a:ext cx="11640312" cy="141732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17520"/>
            <a:ext cx="54864" cy="1417320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0896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E50FB"/>
                </a:solidFill>
                <a:latin typeface="Montserrat"/>
              </a:rPr>
              <a:t>Stream 2: Performance Fee (Commission Take-Rate)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53872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F"/>
                </a:solidFill>
                <a:latin typeface="Montserrat"/>
              </a:rPr>
              <a:t>5% platform fee retained from influencer commissions after 3-month trial. Commissions range 10-15% of net sales.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050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A5A6A"/>
                </a:solidFill>
                <a:latin typeface="Montserrat"/>
              </a:rPr>
              <a:t>Scales automatically with GMV. No sales team required to grow this line.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617720"/>
            <a:ext cx="11640312" cy="141732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4617720"/>
            <a:ext cx="54864" cy="1417320"/>
          </a:xfrm>
          <a:prstGeom prst="rect">
            <a:avLst/>
          </a:prstGeom>
          <a:solidFill>
            <a:srgbClr val="BAB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70916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E50FB"/>
                </a:solidFill>
                <a:latin typeface="Montserrat"/>
              </a:rPr>
              <a:t>Stream 3: Premium Shop Subscriptions (Creator Upsell)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13892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F"/>
                </a:solidFill>
                <a:latin typeface="Montserrat"/>
              </a:rPr>
              <a:t>HK$20/month per influencer for advanced analytics, custom storefront UI, and deep-dive campaign data.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60527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A5A6A"/>
                </a:solidFill>
                <a:latin typeface="Montserrat"/>
              </a:rPr>
              <a:t>Optional upsell unlocked once creators are earning. Low friction, high margin.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6144768"/>
            <a:ext cx="11640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A1A1F"/>
                </a:solidFill>
                <a:latin typeface="Montserrat"/>
              </a:rPr>
              <a:t>All three streams compound: more brands attract more creators, which grow GMV, which increases performance fees.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6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1645920" cy="593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1828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99AA"/>
                </a:solidFill>
                <a:latin typeface="Montserrat"/>
              </a:rPr>
              <a:t>06 — HOW IT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943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1F"/>
                </a:solidFill>
                <a:latin typeface="Montserrat"/>
              </a:rPr>
              <a:t>From brief to results in four steps.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27432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691640"/>
            <a:ext cx="2743200" cy="54864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874519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8C82FC"/>
                </a:solidFill>
                <a:latin typeface="Montserrat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63347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F"/>
                </a:solidFill>
                <a:latin typeface="Montserrat"/>
              </a:rPr>
              <a:t>Brand Brief
&amp; Matching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338328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6A"/>
                </a:solidFill>
                <a:latin typeface="Montserrat"/>
              </a:rPr>
              <a:t>Brand shares product, budget, and target consumer. Platform matches to verified creators using reliability score and audience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39" y="3840480"/>
            <a:ext cx="3840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C82FC"/>
                </a:solidFill>
                <a:latin typeface="Montserrat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691640"/>
            <a:ext cx="27432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691640"/>
            <a:ext cx="2743200" cy="54864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79" y="1874519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8C82FC"/>
                </a:solidFill>
                <a:latin typeface="Montserrat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79" y="263347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F"/>
                </a:solidFill>
                <a:latin typeface="Montserrat"/>
              </a:rPr>
              <a:t>TINT Try-On
Setup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79" y="338328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6A"/>
                </a:solidFill>
                <a:latin typeface="Montserrat"/>
              </a:rPr>
              <a:t>TINT virtual try-on configured for the product. Embedded in creator content and brand page. Consumers experience the product before buying.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840480"/>
            <a:ext cx="3840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C82FC"/>
                </a:solidFill>
                <a:latin typeface="Montserrat"/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691640"/>
            <a:ext cx="27432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691640"/>
            <a:ext cx="2743200" cy="54864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874519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8C82FC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63347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F"/>
                </a:solidFill>
                <a:latin typeface="Montserrat"/>
              </a:rPr>
              <a:t>Campaign
Execution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338328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6A"/>
                </a:solidFill>
                <a:latin typeface="Montserrat"/>
              </a:rPr>
              <a:t>Creators deliver 1 review blog and 2 professional live streams per window. Shared calendar governs all deadlines. Real-time delivery tracking.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3840480"/>
            <a:ext cx="3840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C82FC"/>
                </a:solidFill>
                <a:latin typeface="Montserrat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89720" y="1691640"/>
            <a:ext cx="274320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89720" y="1691640"/>
            <a:ext cx="2743200" cy="54864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0" y="1874519"/>
            <a:ext cx="2468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8C82FC"/>
                </a:solidFill>
                <a:latin typeface="Montserrat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633472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A1F"/>
                </a:solidFill>
                <a:latin typeface="Montserrat"/>
              </a:rPr>
              <a:t>Performance
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338328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6A"/>
                </a:solidFill>
                <a:latin typeface="Montserrat"/>
              </a:rPr>
              <a:t>Full post-campaign ROI. Reach, conversions, commission paid, reliability score impact. Recommendations for the next campaign included.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6492240"/>
            <a:ext cx="11640312" cy="25603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6510528"/>
            <a:ext cx="11430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ontserrat"/>
              </a:rPr>
              <a:t>Content Trinity: 1x Detailed Blog  +  2x Live Streams  +  AI Sales Certification  +  Reliability Score 0-100%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64008" cy="6793992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1645920" cy="593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1828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99AA"/>
                </a:solidFill>
                <a:latin typeface="Montserrat"/>
              </a:rPr>
              <a:t>07 — PLATFORM TIERS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943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1F"/>
                </a:solidFill>
                <a:latin typeface="Montserrat"/>
              </a:rPr>
              <a:t>Two ecosystems. Both governed.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8988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999AA"/>
                </a:solidFill>
                <a:latin typeface="Montserrat"/>
              </a:rPr>
              <a:t>BRAND MEMBERSHIP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37360"/>
            <a:ext cx="3566160" cy="233172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737360"/>
            <a:ext cx="3566160" cy="54864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86537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8C82FC"/>
                </a:solidFill>
                <a:latin typeface="Montserrat"/>
              </a:rPr>
              <a:t>Essential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79" y="2331720"/>
            <a:ext cx="3291840" cy="36576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2350008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HK$400/mo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27889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  Campaigns: 1/quarter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317296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  Up to 5 creators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3557015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  TINT basic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69080" y="1737360"/>
            <a:ext cx="3566160" cy="2331720"/>
          </a:xfrm>
          <a:prstGeom prst="rect">
            <a:avLst/>
          </a:prstGeom>
          <a:solidFill>
            <a:srgbClr val="BAB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069080" y="1737360"/>
            <a:ext cx="3566160" cy="54864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186537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5E50FB"/>
                </a:solidFill>
                <a:latin typeface="Montserrat"/>
              </a:rPr>
              <a:t>Professional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2331720"/>
            <a:ext cx="3291840" cy="36576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2350008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HK$900/mo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33672" y="27889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  Campaigns: 2/quarter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33672" y="317296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  Up to 15 creators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33672" y="3557015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  Full TINT + dashboard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63840" y="1737360"/>
            <a:ext cx="3566160" cy="233172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63840" y="1737360"/>
            <a:ext cx="3566160" cy="54864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1000" y="1865376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8C82FC"/>
                </a:solidFill>
                <a:latin typeface="Montserrat"/>
              </a:rPr>
              <a:t>Enterprise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01000" y="2331720"/>
            <a:ext cx="3291840" cy="36576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01000" y="2350008"/>
            <a:ext cx="3291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ontserrat"/>
              </a:rPr>
              <a:t>HK$2,500/mo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28431" y="278892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  Unlimited campaigns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28431" y="317296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  Unlimited creators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28431" y="3557015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  Dedicated manager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4251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999AA"/>
                </a:solidFill>
                <a:latin typeface="Montserrat"/>
              </a:rPr>
              <a:t>INFLUENCER TIERS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617720"/>
            <a:ext cx="3566160" cy="1938528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4617720"/>
            <a:ext cx="3566160" cy="54864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79" y="473659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E50FB"/>
                </a:solidFill>
                <a:latin typeface="Montserrat"/>
              </a:rPr>
              <a:t>Rising Star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" y="51937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  Essential brands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" y="55778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  1 Blog + 1 Live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" y="596188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  10% commission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069080" y="4617720"/>
            <a:ext cx="3566160" cy="1938528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069080" y="4617720"/>
            <a:ext cx="3566160" cy="54864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0" y="473659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E50FB"/>
                </a:solidFill>
                <a:latin typeface="Montserrat"/>
              </a:rPr>
              <a:t>Star Influencer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33672" y="51937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  Professional brands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33672" y="55778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  2 Blogs + 4 Lives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33672" y="596188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  12% + content fees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63840" y="4617720"/>
            <a:ext cx="3566160" cy="1938528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863840" y="4617720"/>
            <a:ext cx="3566160" cy="54864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01000" y="4736592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E50FB"/>
                </a:solidFill>
                <a:latin typeface="Montserrat"/>
              </a:rPr>
              <a:t>Superstar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28431" y="5193792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  Enterprise brands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28431" y="557784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  5 Blogs + 10 Lives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28431" y="596188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  15% + 1st Launch access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320" y="6583680"/>
            <a:ext cx="1164031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E50FB"/>
                </a:solidFill>
                <a:latin typeface="Montserrat"/>
              </a:rPr>
              <a:t>Red Card rule: reliability score below 70% = permanent shop suspension.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64008" cy="6793992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1645920" cy="593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1828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99AA"/>
                </a:solidFill>
                <a:latin typeface="Montserrat"/>
              </a:rPr>
              <a:t>08 — TRACTION &amp;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943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1F"/>
                </a:solidFill>
                <a:latin typeface="Montserrat"/>
              </a:rPr>
              <a:t>Where we are. Where we are going.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71600"/>
            <a:ext cx="11640312" cy="96012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11640312" cy="54864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999AA"/>
                </a:solidFill>
                <a:latin typeface="Montserrat"/>
              </a:rPr>
              <a:t>Current Status — April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01368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— Platform built and live at simplex-ity.fluentlab.co  — Brand guidelines and design system completed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488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1F"/>
                </a:solidFill>
                <a:latin typeface="Montserrat"/>
              </a:rPr>
              <a:t>— Influencer ecosystem framework defined (V3)  — TINT integration scoped and ready for brand onboarding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697480"/>
            <a:ext cx="2743200" cy="388620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2697480"/>
            <a:ext cx="2743200" cy="54864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2807208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E50FB"/>
                </a:solidFill>
                <a:latin typeface="Montserrat"/>
              </a:rPr>
              <a:t>Q2 2026
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3520440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6A"/>
                </a:solidFill>
                <a:latin typeface="Montserrat"/>
              </a:rPr>
              <a:t>Platform live. Brand partnerships open. First influencer cohort onboarding. TINT try-on integration active.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79" y="3355848"/>
            <a:ext cx="1828800" cy="256032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3364991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Montserrat"/>
              </a:rPr>
              <a:t>ACTIVE NOW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2697480"/>
            <a:ext cx="2743200" cy="388620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46120" y="2697480"/>
            <a:ext cx="2743200" cy="54864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79" y="2807208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F"/>
                </a:solidFill>
                <a:latin typeface="Montserrat"/>
              </a:rPr>
              <a:t>Q3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79" y="3520440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6A"/>
                </a:solidFill>
                <a:latin typeface="Montserrat"/>
              </a:rPr>
              <a:t>First 10 brand members signed. 50 verified creators active. Campaign reporting dashboard launched. First performance reports delivered.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2697480"/>
            <a:ext cx="2743200" cy="388620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2697480"/>
            <a:ext cx="2743200" cy="54864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2807208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F"/>
                </a:solidFill>
                <a:latin typeface="Montserrat"/>
              </a:rPr>
              <a:t>Q4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520440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6A"/>
                </a:solidFill>
                <a:latin typeface="Montserrat"/>
              </a:rPr>
              <a:t>Professional and Enterprise tier brands onboarded. Retainer model active for top influencers. XHS and TikTok campaign channels added.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89720" y="2697480"/>
            <a:ext cx="2743200" cy="388620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89720" y="2697480"/>
            <a:ext cx="2743200" cy="54864"/>
          </a:xfrm>
          <a:prstGeom prst="rect">
            <a:avLst/>
          </a:prstGeom>
          <a:solidFill>
            <a:srgbClr val="BAB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2807208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1F"/>
                </a:solidFill>
                <a:latin typeface="Montserrat"/>
              </a:rPr>
              <a:t>2027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3520440"/>
            <a:ext cx="2468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A5A6A"/>
                </a:solidFill>
                <a:latin typeface="Montserrat"/>
              </a:rPr>
              <a:t>Regional expansion. Singapore and Taiwan market entry. Institutional brand partnerships. Series A readiness.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64008" cy="6793992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"/>
            <a:ext cx="1645920" cy="5935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1828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999AA"/>
                </a:solidFill>
                <a:latin typeface="Montserrat"/>
              </a:rPr>
              <a:t>09 — COMPETITIVE ADVANTAGE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943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1A1A1F"/>
                </a:solidFill>
                <a:latin typeface="Montserrat"/>
              </a:rPr>
              <a:t>Five moats. Built in from day 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11640312" cy="91440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54864" cy="91440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E50FB"/>
                </a:solidFill>
                <a:latin typeface="Montserrat"/>
              </a:rPr>
              <a:t>Try-On Technology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618488"/>
            <a:ext cx="8046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F"/>
                </a:solidFill>
                <a:latin typeface="Montserrat"/>
              </a:rPr>
              <a:t>TINT virtual AR makeup is integrated at the platform level. Competitors would need to build or license this separately.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496312"/>
            <a:ext cx="11640312" cy="91440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2496312"/>
            <a:ext cx="54864" cy="91440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58775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E50FB"/>
                </a:solidFill>
                <a:latin typeface="Montserrat"/>
              </a:rPr>
              <a:t>Reliability Governance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606040"/>
            <a:ext cx="8046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F"/>
                </a:solidFill>
                <a:latin typeface="Montserrat"/>
              </a:rPr>
              <a:t>The 0-100% reliability scorecard is proprietary. No other Asian beauty influencer platform governs creator behaviour this systematically.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483864"/>
            <a:ext cx="11640312" cy="91440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483864"/>
            <a:ext cx="54864" cy="91440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575304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E50FB"/>
                </a:solidFill>
                <a:latin typeface="Montserrat"/>
              </a:rPr>
              <a:t>Category Focus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593592"/>
            <a:ext cx="8046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F"/>
                </a:solidFill>
                <a:latin typeface="Montserrat"/>
              </a:rPr>
              <a:t>Simplex-ity is built exclusively for Asian beauty, not a generic influencer marketplace. Category depth creates trust that horizontal platforms cannot replicate.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471416"/>
            <a:ext cx="11640312" cy="91440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4471416"/>
            <a:ext cx="54864" cy="91440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562856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E50FB"/>
                </a:solidFill>
                <a:latin typeface="Montserrat"/>
              </a:rPr>
              <a:t>Creator Ecosystem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581144"/>
            <a:ext cx="8046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F"/>
                </a:solidFill>
                <a:latin typeface="Montserrat"/>
              </a:rPr>
              <a:t>Cross-pollination drives follower growth for creators. The more creators on the platform, the more valuable each one becomes. Network effects compound.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458968"/>
            <a:ext cx="11640312" cy="914400"/>
          </a:xfrm>
          <a:prstGeom prst="rect">
            <a:avLst/>
          </a:prstGeom>
          <a:solidFill>
            <a:srgbClr val="E8E6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5458968"/>
            <a:ext cx="54864" cy="914400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55040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E50FB"/>
                </a:solidFill>
                <a:latin typeface="Montserrat"/>
              </a:rPr>
              <a:t>Data Advantage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5568696"/>
            <a:ext cx="8046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1F"/>
                </a:solidFill>
                <a:latin typeface="Montserrat"/>
              </a:rPr>
              <a:t>Every campaign generates proprietary data on what converts in Asian beauty by product type, skin tone, and creator tier. This data widens the moat over time.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E5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201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54864" cy="6858000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1168"/>
            <a:ext cx="2377440" cy="8573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261872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999AA"/>
                </a:solidFill>
                <a:latin typeface="Montserrat"/>
              </a:rPr>
              <a:t>THE INVESTMENT 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6126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Montserrat"/>
              </a:rPr>
              <a:t>Join Simplex-ity at
the foundation stage.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37560"/>
            <a:ext cx="6126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AB4FD"/>
                </a:solidFill>
                <a:latin typeface="Montserrat"/>
              </a:rPr>
              <a:t>We are seeking seed investment to accelerate brand onboarding, expand the creator ecosystem across HK, Singapore, and Taiwan, and build the full analytics infrastructure.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617720"/>
            <a:ext cx="5943600" cy="50292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7731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C82FC"/>
                </a:solidFill>
                <a:latin typeface="Montserrat"/>
              </a:rPr>
              <a:t>Brand Sales: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4773168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AB4FD"/>
                </a:solidFill>
                <a:latin typeface="Montserrat"/>
              </a:rPr>
              <a:t>Onboard first 20 brand partners across all tiers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5721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C82FC"/>
                </a:solidFill>
                <a:latin typeface="Montserrat"/>
              </a:rPr>
              <a:t>Creator Growth: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5157216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AB4FD"/>
                </a:solidFill>
                <a:latin typeface="Montserrat"/>
              </a:rPr>
              <a:t>Build verified creator cohort to 200 active influencers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54126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C82FC"/>
                </a:solidFill>
                <a:latin typeface="Montserrat"/>
              </a:rPr>
              <a:t>Technology: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5541264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AB4FD"/>
                </a:solidFill>
                <a:latin typeface="Montserrat"/>
              </a:rPr>
              <a:t>Full TINT integration, analytics dashboard, and reporting suite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9253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C82FC"/>
                </a:solidFill>
                <a:latin typeface="Montserrat"/>
              </a:rPr>
              <a:t>Regional: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5925312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AB4FD"/>
                </a:solidFill>
                <a:latin typeface="Montserrat"/>
              </a:rPr>
              <a:t>Singapore and Taiwan market entry in 2027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126187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999AA"/>
                </a:solidFill>
                <a:latin typeface="Montserrat"/>
              </a:rPr>
              <a:t>KEY NUMBERS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95160" y="1719072"/>
            <a:ext cx="4846320" cy="658368"/>
          </a:xfrm>
          <a:prstGeom prst="rect">
            <a:avLst/>
          </a:prstGeom>
          <a:solidFill>
            <a:srgbClr val="281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95160" y="1719072"/>
            <a:ext cx="45720" cy="658368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50608" y="176479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ontserrat"/>
              </a:rPr>
              <a:t>3 Revenue Streams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0608" y="2084831"/>
            <a:ext cx="4480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AB4FD"/>
                </a:solidFill>
                <a:latin typeface="Montserrat"/>
              </a:rPr>
              <a:t>Membership, Performance Fee, Premium Shop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95160" y="2468879"/>
            <a:ext cx="4846320" cy="658368"/>
          </a:xfrm>
          <a:prstGeom prst="rect">
            <a:avLst/>
          </a:prstGeom>
          <a:solidFill>
            <a:srgbClr val="281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95160" y="2468879"/>
            <a:ext cx="45720" cy="658368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50608" y="251459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ontserrat"/>
              </a:rPr>
              <a:t>HK$400 to $2,500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50608" y="2834639"/>
            <a:ext cx="4480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AB4FD"/>
                </a:solidFill>
                <a:latin typeface="Montserrat"/>
              </a:rPr>
              <a:t>Brand membership per month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95160" y="3218687"/>
            <a:ext cx="4846320" cy="658368"/>
          </a:xfrm>
          <a:prstGeom prst="rect">
            <a:avLst/>
          </a:prstGeom>
          <a:solidFill>
            <a:srgbClr val="281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95160" y="3218687"/>
            <a:ext cx="45720" cy="658368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50608" y="3264407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ontserrat"/>
              </a:rPr>
              <a:t>10 to 15%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0608" y="3584447"/>
            <a:ext cx="4480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AB4FD"/>
                </a:solidFill>
                <a:latin typeface="Montserrat"/>
              </a:rPr>
              <a:t>Influencer commission rate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995160" y="3968496"/>
            <a:ext cx="4846320" cy="658368"/>
          </a:xfrm>
          <a:prstGeom prst="rect">
            <a:avLst/>
          </a:prstGeom>
          <a:solidFill>
            <a:srgbClr val="281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995160" y="3968496"/>
            <a:ext cx="45720" cy="658368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50608" y="4014215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ontserrat"/>
              </a:rPr>
              <a:t>25%+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50608" y="4334256"/>
            <a:ext cx="4480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AB4FD"/>
                </a:solidFill>
                <a:latin typeface="Montserrat"/>
              </a:rPr>
              <a:t>TINT conversion rate uplift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95160" y="4718304"/>
            <a:ext cx="4846320" cy="658368"/>
          </a:xfrm>
          <a:prstGeom prst="rect">
            <a:avLst/>
          </a:prstGeom>
          <a:solidFill>
            <a:srgbClr val="281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995160" y="4718304"/>
            <a:ext cx="45720" cy="658368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50608" y="4764024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ontserrat"/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50608" y="5084064"/>
            <a:ext cx="4480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AB4FD"/>
                </a:solidFill>
                <a:latin typeface="Montserrat"/>
              </a:rPr>
              <a:t>Upfront cost for influencers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95160" y="5468112"/>
            <a:ext cx="4846320" cy="658368"/>
          </a:xfrm>
          <a:prstGeom prst="rect">
            <a:avLst/>
          </a:prstGeom>
          <a:solidFill>
            <a:srgbClr val="281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995160" y="5468112"/>
            <a:ext cx="45720" cy="658368"/>
          </a:xfrm>
          <a:prstGeom prst="rect">
            <a:avLst/>
          </a:prstGeom>
          <a:solidFill>
            <a:srgbClr val="8C8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50608" y="55138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ontserrat"/>
              </a:rPr>
              <a:t>$2.3B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50608" y="5833872"/>
            <a:ext cx="44805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AB4FD"/>
                </a:solidFill>
                <a:latin typeface="Montserrat"/>
              </a:rPr>
              <a:t>Target market size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355080"/>
            <a:ext cx="6126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AB4FD"/>
                </a:solidFill>
                <a:latin typeface="Montserrat"/>
              </a:rPr>
              <a:t>kieran@5senses.global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583680"/>
            <a:ext cx="6126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AA"/>
                </a:solidFill>
                <a:latin typeface="Montserrat"/>
              </a:rPr>
              <a:t>simplex-ity.fluentlab.co  |  Kwun Tong, Hong Kong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